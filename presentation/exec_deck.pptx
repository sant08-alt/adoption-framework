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[INTRODUCTION - 5 min] Open with the ask, then who I am. The proposal: adopt a single North Star for product adoption - the Customer Value Realization Score (CVRS) - plus the health-tier model, a revenue overlay, and the operating rhythm around it. Positioning: this is not another dashboard; it is the measurement contract between Product, Customer Success, and Finance. About me: a Technical PM - I own both the metric definition and its implementation. The whole prototype (synthetic data, BigQuery pipeline, automated tests, dashboard) was built spec-first with an AI coding agent, and every number in this deck is reproducible from the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[INTRODUCTION] My philosophy as a Technical PM. The distinction that matters: I don't hand engineering a metric definition and hope - I write the spec, build the prototype, and prove it works. Spec-driven + AI-first is the method: the Markdown spec is the source of truth, the AI agent generates the implementation, and tests keep them honest. That is how a one-person team went concept-to-working-prototype end to end. This slide sets up why the rest of the talk can be concrete - I can show you running code and real numbers, not intentions.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&amp; PROBLEM - 5 min] Frame the task precisely: this is a scoring-and-classification problem, not a search/RAG problem. We quantify value realization and classify each account into a health tier that maps to an owned motion. Three levels: feature, SKU, customer. The percentages come from the prototype dataset, seeded with the messy realities of enterprise B2B. Key line: a customer who burns 90% of entitlement in one quarter and one who consumes steadily all year look identical in cumulative usage - and only one renews. Core user pain: customer-facing teams have no trustworthy, feature-level signal of whether a deployment is actually delivering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CVRS = 100 x (0.40 utilization + 0.30 depth + 0.20 consistency + 0.10 breadth), per customer per month, with SKU-level and feature-level versions underneath. Weights rationale: utilization is the consumption-business reality; depth is the leading indicator of stickiness; consistency separates durable value from bursts; breadth keeps multi-SKU accounts honest. Weights are a governance decision - versioned in the spec, owned by a Product+CS+Finance forum. Trade-off: a composite loses nuance but wins exec alignment; the dashboard always exposes the component breakdown so nobody argues with a black box. Revenue is deliberately an overlay, not an input: ARR-weighting would let a big account's shallow adoption look healthy and bury a small account's deep adoption. A test asserts CVRS reconstructs exactly from its four components.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The end-to-end architecture, left to right. Data is synthetic (we can't ship proprietary data) but deliberately messy, with labeled cohorts baked in. BigQuery is the system of record so compute is pushed to the warehouse and scales unchanged to real telemetry. Build-vs-buy: I bought the warehouse and built the transforms as numbered SQL files run by a thin Python runner - the staging/intermediate/marts discipline is convention, so dbt's overhead wasn't justified for a prototype (migration path noted). Latency-vs-accuracy: monthly batch is the right grain - the metric feeds monthly decisions, and weekly would inject intra-month noise. The signature technical choice is the date-range join that makes overlapping mid-year contracts sum into the monthly denominator - that's where naive pipelines break on real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This is the defense against 'my account is special.' Each known failure mode of adoption measurement is handled structurally in the metric definition, not by analysts cleaning data afterward. Every one of these behaviors is injected into the synthetic data on purpose, with labels, so the evaluation can prove the framework catches them. Two of these came from iteration you can see in the git history: the post-expansion grace window (so a customer who just bought more capacity isn't flagged At Risk for the temporary utilization dip), and a real product_adoption date that gives day-level TTFV after we found the monthly-grain version produced impossible negatives.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[EVALUATION &amp; RESULTS - 10 min] The evaluation philosophy: a metric you cannot test is an opinion. Because we generated the data, we know which accounts are shelfware, spike-drop, overage, or expansion - and the pipeline is required, by 28 automated tests, to find them, &gt;=90% per cohort. Metrics that mattered: not loss - detection precision against labeled cohorts, plus score-bounds and no-account-dropped guarantees. And crucially, each tier maps to a business KPI: gross retention, net revenue retention, expansion pipeline, activation. In production the same harness runs against historical renewal outcomes instead of synthetic labels: does CVRS at month 9 predict the renewal decision at month 12? That back-test is the first production milestone.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[EVALUATION &amp; RESULTS] Close on the hard truths - this is what separates a real evaluation from a demo. First honest finding: the relative-drop At Risk rule never independently fires on this dataset because every genuine decline already crashes below the absolute CVRS&lt;40 floor; it's a guardrail for gradual erosion the synthetic data doesn't model yet, and I've documented that rather than hide it. Second: measuring day-precision TTFV against monthly consumption produced impossible negatives, fixed by generating a real per-product adoption date. Third: the weights are judgment, so they're governance-owned and test-versioned. Then the decision: endorse the metric and tier model, fund productionization (real telemetry, warehouse-native pipeline, BI integration), and charter a Product+CS+Finance governance forum. Retrospective with today's stack: agentic triage of tier changes, LLM narratives for CSMs, and keeping the spec-as-contract loop. Then switch to the live dashboard - Portfolio (health-tier mix, ARR-at-risk, expansion pipeline), drill into a spike-and-drop account to watch the score collapse, finish on feature adoption and day-level TTFV.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9"/>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2C39A"/>
          </a:solidFill>
          <a:ln/>
        </p:spPr>
      </p:sp>
      <p:sp>
        <p:nvSpPr>
          <p:cNvPr id="3" name="Text 1"/>
          <p:cNvSpPr/>
          <p:nvPr/>
        </p:nvSpPr>
        <p:spPr>
          <a:xfrm>
            <a:off x="731520" y="932688"/>
            <a:ext cx="768096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PROPOSAL TO THE CPO &amp; GMs OF PRODUCT</a:t>
            </a:r>
            <a:endParaRPr lang="en-US" sz="1300" dirty="0"/>
          </a:p>
        </p:txBody>
      </p:sp>
      <p:sp>
        <p:nvSpPr>
          <p:cNvPr id="4" name="Text 2"/>
          <p:cNvSpPr/>
          <p:nvPr/>
        </p:nvSpPr>
        <p:spPr>
          <a:xfrm>
            <a:off x="731520" y="1298448"/>
            <a:ext cx="7680960" cy="777240"/>
          </a:xfrm>
          <a:prstGeom prst="rect">
            <a:avLst/>
          </a:prstGeom>
          <a:noFill/>
          <a:ln/>
        </p:spPr>
        <p:txBody>
          <a:bodyPr wrap="square" lIns="0" tIns="0" rIns="0" bIns="0" rtlCol="0" anchor="ctr"/>
          <a:lstStyle/>
          <a:p>
            <a:pPr indent="0" marL="0">
              <a:buNone/>
            </a:pPr>
            <a:r>
              <a:rPr lang="en-US" sz="4400" b="1" dirty="0">
                <a:solidFill>
                  <a:srgbClr val="FFFFFF"/>
                </a:solidFill>
                <a:latin typeface="Georgia" pitchFamily="34" charset="0"/>
                <a:ea typeface="Georgia" pitchFamily="34" charset="-122"/>
                <a:cs typeface="Georgia" pitchFamily="34" charset="-120"/>
              </a:rPr>
              <a:t>Measuring What Matters</a:t>
            </a:r>
            <a:endParaRPr lang="en-US" sz="4400" dirty="0"/>
          </a:p>
        </p:txBody>
      </p:sp>
      <p:sp>
        <p:nvSpPr>
          <p:cNvPr id="5" name="Text 3"/>
          <p:cNvSpPr/>
          <p:nvPr/>
        </p:nvSpPr>
        <p:spPr>
          <a:xfrm>
            <a:off x="731520" y="2157984"/>
            <a:ext cx="7315200" cy="777240"/>
          </a:xfrm>
          <a:prstGeom prst="rect">
            <a:avLst/>
          </a:prstGeom>
          <a:noFill/>
          <a:ln/>
        </p:spPr>
        <p:txBody>
          <a:bodyPr wrap="square" lIns="0" tIns="0" rIns="0" bIns="0" rtlCol="0" anchor="ctr"/>
          <a:lstStyle/>
          <a:p>
            <a:pPr indent="0" marL="0">
              <a:buNone/>
            </a:pPr>
            <a:r>
              <a:rPr lang="en-US" sz="1900" dirty="0">
                <a:solidFill>
                  <a:srgbClr val="CADCFC"/>
                </a:solidFill>
                <a:latin typeface="Calibri" pitchFamily="34" charset="0"/>
                <a:ea typeface="Calibri" pitchFamily="34" charset="-122"/>
                <a:cs typeface="Calibri" pitchFamily="34" charset="-120"/>
              </a:rPr>
              <a:t>A value-realization framework for product adoption in a</a:t>
            </a:r>
            <a:endParaRPr lang="en-US" sz="1900" dirty="0"/>
          </a:p>
          <a:p>
            <a:pPr indent="0" marL="0">
              <a:buNone/>
            </a:pPr>
            <a:r>
              <a:rPr lang="en-US" sz="1900" dirty="0">
                <a:solidFill>
                  <a:srgbClr val="CADCFC"/>
                </a:solidFill>
                <a:latin typeface="Calibri" pitchFamily="34" charset="0"/>
                <a:ea typeface="Calibri" pitchFamily="34" charset="-122"/>
                <a:cs typeface="Calibri" pitchFamily="34" charset="-120"/>
              </a:rPr>
              <a:t>consumption-based security business</a:t>
            </a:r>
            <a:endParaRPr lang="en-US" sz="1900" dirty="0"/>
          </a:p>
        </p:txBody>
      </p:sp>
      <p:sp>
        <p:nvSpPr>
          <p:cNvPr id="6" name="Shape 4"/>
          <p:cNvSpPr/>
          <p:nvPr/>
        </p:nvSpPr>
        <p:spPr>
          <a:xfrm>
            <a:off x="777240" y="3246120"/>
            <a:ext cx="2926080" cy="0"/>
          </a:xfrm>
          <a:prstGeom prst="line">
            <a:avLst/>
          </a:prstGeom>
          <a:noFill/>
          <a:ln w="12700">
            <a:solidFill>
              <a:srgbClr val="51607A"/>
            </a:solidFill>
            <a:prstDash val="solid"/>
          </a:ln>
        </p:spPr>
      </p:sp>
      <p:sp>
        <p:nvSpPr>
          <p:cNvPr id="7" name="Text 5"/>
          <p:cNvSpPr/>
          <p:nvPr/>
        </p:nvSpPr>
        <p:spPr>
          <a:xfrm>
            <a:off x="731520" y="3401568"/>
            <a:ext cx="6858000" cy="73152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Principal PM, Product Adoption Analytics</a:t>
            </a:r>
            <a:endParaRPr lang="en-US" sz="1300" dirty="0"/>
          </a:p>
          <a:p>
            <a:pPr indent="0" marL="0">
              <a:buNone/>
            </a:pPr>
            <a:r>
              <a:rPr lang="en-US" sz="1200" i="1" dirty="0">
                <a:solidFill>
                  <a:srgbClr val="8FA3C8"/>
                </a:solidFill>
                <a:latin typeface="Calibri" pitchFamily="34" charset="0"/>
                <a:ea typeface="Calibri" pitchFamily="34" charset="-122"/>
                <a:cs typeface="Calibri" pitchFamily="34" charset="-120"/>
              </a:rPr>
              <a:t>Built end-to-end with a spec-driven, AI-first development workflow</a:t>
            </a:r>
            <a:endParaRPr lang="en-US" sz="1300" dirty="0"/>
          </a:p>
        </p:txBody>
      </p:sp>
      <p:sp>
        <p:nvSpPr>
          <p:cNvPr id="8" name="Text 6"/>
          <p:cNvSpPr/>
          <p:nvPr/>
        </p:nvSpPr>
        <p:spPr>
          <a:xfrm>
            <a:off x="6400800" y="3794760"/>
            <a:ext cx="2377440" cy="914400"/>
          </a:xfrm>
          <a:prstGeom prst="rect">
            <a:avLst/>
          </a:prstGeom>
          <a:noFill/>
          <a:ln/>
        </p:spPr>
        <p:txBody>
          <a:bodyPr wrap="square" lIns="0" tIns="0" rIns="0" bIns="0" rtlCol="0" anchor="ctr"/>
          <a:lstStyle/>
          <a:p>
            <a:pPr algn="r" indent="0" marL="0">
              <a:buNone/>
            </a:pPr>
            <a:r>
              <a:rPr lang="en-US" sz="5400" b="1" dirty="0">
                <a:solidFill>
                  <a:srgbClr val="1D2B4F"/>
                </a:solidFill>
                <a:latin typeface="Georgia" pitchFamily="34" charset="0"/>
                <a:ea typeface="Georgia" pitchFamily="34" charset="-122"/>
                <a:cs typeface="Georgia" pitchFamily="34" charset="-120"/>
              </a:rPr>
              <a:t>CVRS</a:t>
            </a:r>
            <a:endParaRPr lang="en-US" sz="5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6213E"/>
          </a:solidFill>
          <a:ln/>
        </p:spPr>
      </p:sp>
      <p:sp>
        <p:nvSpPr>
          <p:cNvPr id="3" name="Text 1"/>
          <p:cNvSpPr/>
          <p:nvPr/>
        </p:nvSpPr>
        <p:spPr>
          <a:xfrm>
            <a:off x="502920" y="256032"/>
            <a:ext cx="8138160" cy="274320"/>
          </a:xfrm>
          <a:prstGeom prst="rect">
            <a:avLst/>
          </a:prstGeom>
          <a:noFill/>
          <a:ln/>
        </p:spPr>
        <p:txBody>
          <a:bodyPr wrap="square" lIns="0" tIns="0" rIns="0" bIns="0" rtlCol="0" anchor="ctr"/>
          <a:lstStyle/>
          <a:p>
            <a:pPr indent="0" marL="0">
              <a:buNone/>
            </a:pPr>
            <a:r>
              <a:rPr lang="en-US" sz="1100" b="1" spc="300" kern="0" dirty="0">
                <a:solidFill>
                  <a:srgbClr val="0B8F72"/>
                </a:solidFill>
                <a:latin typeface="Calibri" pitchFamily="34" charset="0"/>
                <a:ea typeface="Calibri" pitchFamily="34" charset="-122"/>
                <a:cs typeface="Calibri" pitchFamily="34" charset="-120"/>
              </a:rPr>
              <a:t>INTRODUCTION · HOW I WORK</a:t>
            </a:r>
            <a:endParaRPr lang="en-US" sz="1100" dirty="0"/>
          </a:p>
        </p:txBody>
      </p:sp>
      <p:sp>
        <p:nvSpPr>
          <p:cNvPr id="4" name="Text 2"/>
          <p:cNvSpPr/>
          <p:nvPr/>
        </p:nvSpPr>
        <p:spPr>
          <a:xfrm>
            <a:off x="502920" y="475488"/>
            <a:ext cx="8138160" cy="685800"/>
          </a:xfrm>
          <a:prstGeom prst="rect">
            <a:avLst/>
          </a:prstGeom>
          <a:noFill/>
          <a:ln/>
        </p:spPr>
        <p:txBody>
          <a:bodyPr wrap="square" lIns="0" tIns="0" rIns="0" bIns="0" rtlCol="0" anchor="t"/>
          <a:lstStyle/>
          <a:p>
            <a:pPr indent="0" marL="0">
              <a:buNone/>
            </a:pPr>
            <a:r>
              <a:rPr lang="en-US" sz="2900" b="1" dirty="0">
                <a:solidFill>
                  <a:srgbClr val="16213E"/>
                </a:solidFill>
                <a:latin typeface="Georgia" pitchFamily="34" charset="0"/>
                <a:ea typeface="Georgia" pitchFamily="34" charset="-122"/>
                <a:cs typeface="Georgia" pitchFamily="34" charset="-120"/>
              </a:rPr>
              <a:t>The Technical PM operating model</a:t>
            </a:r>
            <a:endParaRPr lang="en-US" sz="2900" dirty="0"/>
          </a:p>
        </p:txBody>
      </p:sp>
      <p:sp>
        <p:nvSpPr>
          <p:cNvPr id="5" name="Shape 3"/>
          <p:cNvSpPr/>
          <p:nvPr/>
        </p:nvSpPr>
        <p:spPr>
          <a:xfrm>
            <a:off x="502920" y="1417320"/>
            <a:ext cx="8138160" cy="694944"/>
          </a:xfrm>
          <a:prstGeom prst="rect">
            <a:avLst/>
          </a:prstGeom>
          <a:solidFill>
            <a:srgbClr val="F4F7FC"/>
          </a:solidFill>
          <a:ln/>
          <a:effectLst>
            <a:outerShdw sx="100000" sy="100000" kx="0" ky="0" algn="bl" rotWithShape="0" blurRad="63500" dist="25400" dir="8100000">
              <a:srgbClr val="9AA7BF">
                <a:alpha val="30000"/>
              </a:srgbClr>
            </a:outerShdw>
          </a:effectLst>
        </p:spPr>
      </p:sp>
      <p:sp>
        <p:nvSpPr>
          <p:cNvPr id="6" name="Shape 4"/>
          <p:cNvSpPr/>
          <p:nvPr/>
        </p:nvSpPr>
        <p:spPr>
          <a:xfrm>
            <a:off x="502920" y="1417320"/>
            <a:ext cx="64008" cy="694944"/>
          </a:xfrm>
          <a:prstGeom prst="rect">
            <a:avLst/>
          </a:prstGeom>
          <a:solidFill>
            <a:srgbClr val="16213E"/>
          </a:solidFill>
          <a:ln/>
        </p:spPr>
      </p:sp>
      <p:sp>
        <p:nvSpPr>
          <p:cNvPr id="7" name="Text 5"/>
          <p:cNvSpPr/>
          <p:nvPr/>
        </p:nvSpPr>
        <p:spPr>
          <a:xfrm>
            <a:off x="685800" y="1472184"/>
            <a:ext cx="2651760" cy="585216"/>
          </a:xfrm>
          <a:prstGeom prst="rect">
            <a:avLst/>
          </a:prstGeom>
          <a:noFill/>
          <a:ln/>
        </p:spPr>
        <p:txBody>
          <a:bodyPr wrap="square" lIns="0" tIns="0" rIns="0" bIns="0" rtlCol="0" anchor="ctr"/>
          <a:lstStyle/>
          <a:p>
            <a:pPr indent="0" marL="0">
              <a:buNone/>
            </a:pPr>
            <a:r>
              <a:rPr lang="en-US" sz="1400" b="1" dirty="0">
                <a:solidFill>
                  <a:srgbClr val="16213E"/>
                </a:solidFill>
                <a:latin typeface="Calibri" pitchFamily="34" charset="0"/>
                <a:ea typeface="Calibri" pitchFamily="34" charset="-122"/>
                <a:cs typeface="Calibri" pitchFamily="34" charset="-120"/>
              </a:rPr>
              <a:t>Specs are the contract</a:t>
            </a:r>
            <a:endParaRPr lang="en-US" sz="1400" dirty="0"/>
          </a:p>
        </p:txBody>
      </p:sp>
      <p:sp>
        <p:nvSpPr>
          <p:cNvPr id="8" name="Text 6"/>
          <p:cNvSpPr/>
          <p:nvPr/>
        </p:nvSpPr>
        <p:spPr>
          <a:xfrm>
            <a:off x="3246120" y="1472184"/>
            <a:ext cx="5212080" cy="585216"/>
          </a:xfrm>
          <a:prstGeom prst="rect">
            <a:avLst/>
          </a:prstGeom>
          <a:noFill/>
          <a:ln/>
        </p:spPr>
        <p:txBody>
          <a:bodyPr wrap="square" lIns="0" tIns="0" rIns="0" bIns="0" rtlCol="0" anchor="ctr"/>
          <a:lstStyle/>
          <a:p>
            <a:pPr indent="0" marL="0">
              <a:buNone/>
            </a:pPr>
            <a:r>
              <a:rPr lang="en-US" sz="1150" dirty="0">
                <a:solidFill>
                  <a:srgbClr val="1B2540"/>
                </a:solidFill>
                <a:latin typeface="Calibri" pitchFamily="34" charset="0"/>
                <a:ea typeface="Calibri" pitchFamily="34" charset="-122"/>
                <a:cs typeface="Calibri" pitchFamily="34" charset="-120"/>
              </a:rPr>
              <a:t>Markdown specs define the metric, data model, and pipeline first; code and tests are generated from them and kept in sync</a:t>
            </a:r>
            <a:endParaRPr lang="en-US" sz="1150" dirty="0"/>
          </a:p>
        </p:txBody>
      </p:sp>
      <p:sp>
        <p:nvSpPr>
          <p:cNvPr id="9" name="Shape 7"/>
          <p:cNvSpPr/>
          <p:nvPr/>
        </p:nvSpPr>
        <p:spPr>
          <a:xfrm>
            <a:off x="502920" y="2240280"/>
            <a:ext cx="8138160" cy="694944"/>
          </a:xfrm>
          <a:prstGeom prst="rect">
            <a:avLst/>
          </a:prstGeom>
          <a:solidFill>
            <a:srgbClr val="F4F7FC"/>
          </a:solidFill>
          <a:ln/>
          <a:effectLst>
            <a:outerShdw sx="100000" sy="100000" kx="0" ky="0" algn="bl" rotWithShape="0" blurRad="63500" dist="25400" dir="8100000">
              <a:srgbClr val="9AA7BF">
                <a:alpha val="30000"/>
              </a:srgbClr>
            </a:outerShdw>
          </a:effectLst>
        </p:spPr>
      </p:sp>
      <p:sp>
        <p:nvSpPr>
          <p:cNvPr id="10" name="Shape 8"/>
          <p:cNvSpPr/>
          <p:nvPr/>
        </p:nvSpPr>
        <p:spPr>
          <a:xfrm>
            <a:off x="502920" y="2240280"/>
            <a:ext cx="64008" cy="694944"/>
          </a:xfrm>
          <a:prstGeom prst="rect">
            <a:avLst/>
          </a:prstGeom>
          <a:solidFill>
            <a:srgbClr val="0B8F72"/>
          </a:solidFill>
          <a:ln/>
        </p:spPr>
      </p:sp>
      <p:sp>
        <p:nvSpPr>
          <p:cNvPr id="11" name="Text 9"/>
          <p:cNvSpPr/>
          <p:nvPr/>
        </p:nvSpPr>
        <p:spPr>
          <a:xfrm>
            <a:off x="685800" y="2295144"/>
            <a:ext cx="2651760" cy="585216"/>
          </a:xfrm>
          <a:prstGeom prst="rect">
            <a:avLst/>
          </a:prstGeom>
          <a:noFill/>
          <a:ln/>
        </p:spPr>
        <p:txBody>
          <a:bodyPr wrap="square" lIns="0" tIns="0" rIns="0" bIns="0" rtlCol="0" anchor="ctr"/>
          <a:lstStyle/>
          <a:p>
            <a:pPr indent="0" marL="0">
              <a:buNone/>
            </a:pPr>
            <a:r>
              <a:rPr lang="en-US" sz="1400" b="1" dirty="0">
                <a:solidFill>
                  <a:srgbClr val="16213E"/>
                </a:solidFill>
                <a:latin typeface="Calibri" pitchFamily="34" charset="0"/>
                <a:ea typeface="Calibri" pitchFamily="34" charset="-122"/>
                <a:cs typeface="Calibri" pitchFamily="34" charset="-120"/>
              </a:rPr>
              <a:t>Ship a prototype, not slides</a:t>
            </a:r>
            <a:endParaRPr lang="en-US" sz="1400" dirty="0"/>
          </a:p>
        </p:txBody>
      </p:sp>
      <p:sp>
        <p:nvSpPr>
          <p:cNvPr id="12" name="Text 10"/>
          <p:cNvSpPr/>
          <p:nvPr/>
        </p:nvSpPr>
        <p:spPr>
          <a:xfrm>
            <a:off x="3246120" y="2295144"/>
            <a:ext cx="5212080" cy="585216"/>
          </a:xfrm>
          <a:prstGeom prst="rect">
            <a:avLst/>
          </a:prstGeom>
          <a:noFill/>
          <a:ln/>
        </p:spPr>
        <p:txBody>
          <a:bodyPr wrap="square" lIns="0" tIns="0" rIns="0" bIns="0" rtlCol="0" anchor="ctr"/>
          <a:lstStyle/>
          <a:p>
            <a:pPr indent="0" marL="0">
              <a:buNone/>
            </a:pPr>
            <a:r>
              <a:rPr lang="en-US" sz="1150" dirty="0">
                <a:solidFill>
                  <a:srgbClr val="1B2540"/>
                </a:solidFill>
                <a:latin typeface="Calibri" pitchFamily="34" charset="0"/>
                <a:ea typeface="Calibri" pitchFamily="34" charset="-122"/>
                <a:cs typeface="Calibri" pitchFamily="34" charset="-120"/>
              </a:rPr>
              <a:t>Everything here runs: real BigQuery, a layered SQL pipeline, 28 automated tests, and a live Streamlit dashboard</a:t>
            </a:r>
            <a:endParaRPr lang="en-US" sz="1150" dirty="0"/>
          </a:p>
        </p:txBody>
      </p:sp>
      <p:sp>
        <p:nvSpPr>
          <p:cNvPr id="13" name="Shape 11"/>
          <p:cNvSpPr/>
          <p:nvPr/>
        </p:nvSpPr>
        <p:spPr>
          <a:xfrm>
            <a:off x="502920" y="3063240"/>
            <a:ext cx="8138160" cy="694944"/>
          </a:xfrm>
          <a:prstGeom prst="rect">
            <a:avLst/>
          </a:prstGeom>
          <a:solidFill>
            <a:srgbClr val="F4F7FC"/>
          </a:solidFill>
          <a:ln/>
          <a:effectLst>
            <a:outerShdw sx="100000" sy="100000" kx="0" ky="0" algn="bl" rotWithShape="0" blurRad="63500" dist="25400" dir="8100000">
              <a:srgbClr val="9AA7BF">
                <a:alpha val="30000"/>
              </a:srgbClr>
            </a:outerShdw>
          </a:effectLst>
        </p:spPr>
      </p:sp>
      <p:sp>
        <p:nvSpPr>
          <p:cNvPr id="14" name="Shape 12"/>
          <p:cNvSpPr/>
          <p:nvPr/>
        </p:nvSpPr>
        <p:spPr>
          <a:xfrm>
            <a:off x="502920" y="3063240"/>
            <a:ext cx="64008" cy="694944"/>
          </a:xfrm>
          <a:prstGeom prst="rect">
            <a:avLst/>
          </a:prstGeom>
          <a:solidFill>
            <a:srgbClr val="F9A825"/>
          </a:solidFill>
          <a:ln/>
        </p:spPr>
      </p:sp>
      <p:sp>
        <p:nvSpPr>
          <p:cNvPr id="15" name="Text 13"/>
          <p:cNvSpPr/>
          <p:nvPr/>
        </p:nvSpPr>
        <p:spPr>
          <a:xfrm>
            <a:off x="685800" y="3118104"/>
            <a:ext cx="2651760" cy="585216"/>
          </a:xfrm>
          <a:prstGeom prst="rect">
            <a:avLst/>
          </a:prstGeom>
          <a:noFill/>
          <a:ln/>
        </p:spPr>
        <p:txBody>
          <a:bodyPr wrap="square" lIns="0" tIns="0" rIns="0" bIns="0" rtlCol="0" anchor="ctr"/>
          <a:lstStyle/>
          <a:p>
            <a:pPr indent="0" marL="0">
              <a:buNone/>
            </a:pPr>
            <a:r>
              <a:rPr lang="en-US" sz="1400" b="1" dirty="0">
                <a:solidFill>
                  <a:srgbClr val="16213E"/>
                </a:solidFill>
                <a:latin typeface="Calibri" pitchFamily="34" charset="0"/>
                <a:ea typeface="Calibri" pitchFamily="34" charset="-122"/>
                <a:cs typeface="Calibri" pitchFamily="34" charset="-120"/>
              </a:rPr>
              <a:t>Measure like an engineer</a:t>
            </a:r>
            <a:endParaRPr lang="en-US" sz="1400" dirty="0"/>
          </a:p>
        </p:txBody>
      </p:sp>
      <p:sp>
        <p:nvSpPr>
          <p:cNvPr id="16" name="Text 14"/>
          <p:cNvSpPr/>
          <p:nvPr/>
        </p:nvSpPr>
        <p:spPr>
          <a:xfrm>
            <a:off x="3246120" y="3118104"/>
            <a:ext cx="5212080" cy="585216"/>
          </a:xfrm>
          <a:prstGeom prst="rect">
            <a:avLst/>
          </a:prstGeom>
          <a:noFill/>
          <a:ln/>
        </p:spPr>
        <p:txBody>
          <a:bodyPr wrap="square" lIns="0" tIns="0" rIns="0" bIns="0" rtlCol="0" anchor="ctr"/>
          <a:lstStyle/>
          <a:p>
            <a:pPr indent="0" marL="0">
              <a:buNone/>
            </a:pPr>
            <a:r>
              <a:rPr lang="en-US" sz="1150" dirty="0">
                <a:solidFill>
                  <a:srgbClr val="1B2540"/>
                </a:solidFill>
                <a:latin typeface="Calibri" pitchFamily="34" charset="0"/>
                <a:ea typeface="Calibri" pitchFamily="34" charset="-122"/>
                <a:cs typeface="Calibri" pitchFamily="34" charset="-120"/>
              </a:rPr>
              <a:t>Every claim is reproducible and test-backed; the metric is evaluated the way a model would be, against labeled ground truth</a:t>
            </a:r>
            <a:endParaRPr lang="en-US" sz="1150" dirty="0"/>
          </a:p>
        </p:txBody>
      </p:sp>
      <p:sp>
        <p:nvSpPr>
          <p:cNvPr id="17" name="Shape 15"/>
          <p:cNvSpPr/>
          <p:nvPr/>
        </p:nvSpPr>
        <p:spPr>
          <a:xfrm>
            <a:off x="502920" y="3886200"/>
            <a:ext cx="8138160" cy="694944"/>
          </a:xfrm>
          <a:prstGeom prst="rect">
            <a:avLst/>
          </a:prstGeom>
          <a:solidFill>
            <a:srgbClr val="F4F7FC"/>
          </a:solidFill>
          <a:ln/>
          <a:effectLst>
            <a:outerShdw sx="100000" sy="100000" kx="0" ky="0" algn="bl" rotWithShape="0" blurRad="63500" dist="25400" dir="8100000">
              <a:srgbClr val="9AA7BF">
                <a:alpha val="30000"/>
              </a:srgbClr>
            </a:outerShdw>
          </a:effectLst>
        </p:spPr>
      </p:sp>
      <p:sp>
        <p:nvSpPr>
          <p:cNvPr id="18" name="Shape 16"/>
          <p:cNvSpPr/>
          <p:nvPr/>
        </p:nvSpPr>
        <p:spPr>
          <a:xfrm>
            <a:off x="502920" y="3886200"/>
            <a:ext cx="64008" cy="694944"/>
          </a:xfrm>
          <a:prstGeom prst="rect">
            <a:avLst/>
          </a:prstGeom>
          <a:solidFill>
            <a:srgbClr val="E4572E"/>
          </a:solidFill>
          <a:ln/>
        </p:spPr>
      </p:sp>
      <p:sp>
        <p:nvSpPr>
          <p:cNvPr id="19" name="Text 17"/>
          <p:cNvSpPr/>
          <p:nvPr/>
        </p:nvSpPr>
        <p:spPr>
          <a:xfrm>
            <a:off x="685800" y="3941064"/>
            <a:ext cx="2651760" cy="585216"/>
          </a:xfrm>
          <a:prstGeom prst="rect">
            <a:avLst/>
          </a:prstGeom>
          <a:noFill/>
          <a:ln/>
        </p:spPr>
        <p:txBody>
          <a:bodyPr wrap="square" lIns="0" tIns="0" rIns="0" bIns="0" rtlCol="0" anchor="ctr"/>
          <a:lstStyle/>
          <a:p>
            <a:pPr indent="0" marL="0">
              <a:buNone/>
            </a:pPr>
            <a:r>
              <a:rPr lang="en-US" sz="1400" b="1" dirty="0">
                <a:solidFill>
                  <a:srgbClr val="16213E"/>
                </a:solidFill>
                <a:latin typeface="Calibri" pitchFamily="34" charset="0"/>
                <a:ea typeface="Calibri" pitchFamily="34" charset="-122"/>
                <a:cs typeface="Calibri" pitchFamily="34" charset="-120"/>
              </a:rPr>
              <a:t>Own the whole seam</a:t>
            </a:r>
            <a:endParaRPr lang="en-US" sz="1400" dirty="0"/>
          </a:p>
        </p:txBody>
      </p:sp>
      <p:sp>
        <p:nvSpPr>
          <p:cNvPr id="20" name="Text 18"/>
          <p:cNvSpPr/>
          <p:nvPr/>
        </p:nvSpPr>
        <p:spPr>
          <a:xfrm>
            <a:off x="3246120" y="3941064"/>
            <a:ext cx="5212080" cy="585216"/>
          </a:xfrm>
          <a:prstGeom prst="rect">
            <a:avLst/>
          </a:prstGeom>
          <a:noFill/>
          <a:ln/>
        </p:spPr>
        <p:txBody>
          <a:bodyPr wrap="square" lIns="0" tIns="0" rIns="0" bIns="0" rtlCol="0" anchor="ctr"/>
          <a:lstStyle/>
          <a:p>
            <a:pPr indent="0" marL="0">
              <a:buNone/>
            </a:pPr>
            <a:r>
              <a:rPr lang="en-US" sz="1150" dirty="0">
                <a:solidFill>
                  <a:srgbClr val="1B2540"/>
                </a:solidFill>
                <a:latin typeface="Calibri" pitchFamily="34" charset="0"/>
                <a:ea typeface="Calibri" pitchFamily="34" charset="-122"/>
                <a:cs typeface="Calibri" pitchFamily="34" charset="-120"/>
              </a:rPr>
              <a:t>Bridge Product, CS, and Finance - define the number, defend the trade-offs, and stand behind the implementation</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6213E"/>
          </a:solidFill>
          <a:ln/>
        </p:spPr>
      </p:sp>
      <p:sp>
        <p:nvSpPr>
          <p:cNvPr id="3" name="Text 1"/>
          <p:cNvSpPr/>
          <p:nvPr/>
        </p:nvSpPr>
        <p:spPr>
          <a:xfrm>
            <a:off x="502920" y="256032"/>
            <a:ext cx="8138160" cy="274320"/>
          </a:xfrm>
          <a:prstGeom prst="rect">
            <a:avLst/>
          </a:prstGeom>
          <a:noFill/>
          <a:ln/>
        </p:spPr>
        <p:txBody>
          <a:bodyPr wrap="square" lIns="0" tIns="0" rIns="0" bIns="0" rtlCol="0" anchor="ctr"/>
          <a:lstStyle/>
          <a:p>
            <a:pPr indent="0" marL="0">
              <a:buNone/>
            </a:pPr>
            <a:r>
              <a:rPr lang="en-US" sz="1100" b="1" spc="300" kern="0" dirty="0">
                <a:solidFill>
                  <a:srgbClr val="0B8F72"/>
                </a:solidFill>
                <a:latin typeface="Calibri" pitchFamily="34" charset="0"/>
                <a:ea typeface="Calibri" pitchFamily="34" charset="-122"/>
                <a:cs typeface="Calibri" pitchFamily="34" charset="-120"/>
              </a:rPr>
              <a:t>CONTEXT &amp; PROBLEM</a:t>
            </a:r>
            <a:endParaRPr lang="en-US" sz="1100" dirty="0"/>
          </a:p>
        </p:txBody>
      </p:sp>
      <p:sp>
        <p:nvSpPr>
          <p:cNvPr id="4" name="Text 2"/>
          <p:cNvSpPr/>
          <p:nvPr/>
        </p:nvSpPr>
        <p:spPr>
          <a:xfrm>
            <a:off x="502920" y="475488"/>
            <a:ext cx="8138160" cy="685800"/>
          </a:xfrm>
          <a:prstGeom prst="rect">
            <a:avLst/>
          </a:prstGeom>
          <a:noFill/>
          <a:ln/>
        </p:spPr>
        <p:txBody>
          <a:bodyPr wrap="square" lIns="0" tIns="0" rIns="0" bIns="0" rtlCol="0" anchor="t"/>
          <a:lstStyle/>
          <a:p>
            <a:pPr indent="0" marL="0">
              <a:buNone/>
            </a:pPr>
            <a:r>
              <a:rPr lang="en-US" sz="2900" b="1" dirty="0">
                <a:solidFill>
                  <a:srgbClr val="16213E"/>
                </a:solidFill>
                <a:latin typeface="Georgia" pitchFamily="34" charset="0"/>
                <a:ea typeface="Georgia" pitchFamily="34" charset="-122"/>
                <a:cs typeface="Georgia" pitchFamily="34" charset="-120"/>
              </a:rPr>
              <a:t>Raw usage is lying to us</a:t>
            </a:r>
            <a:endParaRPr lang="en-US" sz="2900" dirty="0"/>
          </a:p>
        </p:txBody>
      </p:sp>
      <p:sp>
        <p:nvSpPr>
          <p:cNvPr id="5" name="Text 3"/>
          <p:cNvSpPr/>
          <p:nvPr/>
        </p:nvSpPr>
        <p:spPr>
          <a:xfrm>
            <a:off x="502920" y="1170432"/>
            <a:ext cx="8138160" cy="457200"/>
          </a:xfrm>
          <a:prstGeom prst="rect">
            <a:avLst/>
          </a:prstGeom>
          <a:noFill/>
          <a:ln/>
        </p:spPr>
        <p:txBody>
          <a:bodyPr wrap="square" lIns="0" tIns="0" rIns="0" bIns="0" rtlCol="0" anchor="t"/>
          <a:lstStyle/>
          <a:p>
            <a:pPr indent="0" marL="0">
              <a:buNone/>
            </a:pPr>
            <a:r>
              <a:rPr lang="en-US" sz="1300" b="1" dirty="0">
                <a:solidFill>
                  <a:srgbClr val="16213E"/>
                </a:solidFill>
                <a:latin typeface="Calibri" pitchFamily="34" charset="0"/>
                <a:ea typeface="Calibri" pitchFamily="34" charset="-122"/>
                <a:cs typeface="Calibri" pitchFamily="34" charset="-120"/>
              </a:rPr>
              <a:t>The task:  </a:t>
            </a:r>
            <a:pPr indent="0" marL="0">
              <a:buNone/>
            </a:pPr>
            <a:r>
              <a:rPr lang="en-US" sz="1300" dirty="0">
                <a:solidFill>
                  <a:srgbClr val="1B2540"/>
                </a:solidFill>
                <a:latin typeface="Calibri" pitchFamily="34" charset="0"/>
                <a:ea typeface="Calibri" pitchFamily="34" charset="-122"/>
                <a:cs typeface="Calibri" pitchFamily="34" charset="-120"/>
              </a:rPr>
              <a:t>score value realization and classify every account into an actionable health tier - at the customer, SKU, and feature level.</a:t>
            </a:r>
            <a:endParaRPr lang="en-US" sz="1300" dirty="0"/>
          </a:p>
        </p:txBody>
      </p:sp>
      <p:sp>
        <p:nvSpPr>
          <p:cNvPr id="6" name="Shape 4"/>
          <p:cNvSpPr/>
          <p:nvPr/>
        </p:nvSpPr>
        <p:spPr>
          <a:xfrm>
            <a:off x="502920" y="1783080"/>
            <a:ext cx="5029200" cy="822960"/>
          </a:xfrm>
          <a:prstGeom prst="rect">
            <a:avLst/>
          </a:prstGeom>
          <a:solidFill>
            <a:srgbClr val="F4F7FC"/>
          </a:solidFill>
          <a:ln/>
          <a:effectLst>
            <a:outerShdw sx="100000" sy="100000" kx="0" ky="0" algn="bl" rotWithShape="0" blurRad="63500" dist="25400" dir="8100000">
              <a:srgbClr val="9AA7BF">
                <a:alpha val="30000"/>
              </a:srgbClr>
            </a:outerShdw>
          </a:effectLst>
        </p:spPr>
      </p:sp>
      <p:sp>
        <p:nvSpPr>
          <p:cNvPr id="7" name="Shape 5"/>
          <p:cNvSpPr/>
          <p:nvPr/>
        </p:nvSpPr>
        <p:spPr>
          <a:xfrm>
            <a:off x="502920" y="1783080"/>
            <a:ext cx="64008" cy="822960"/>
          </a:xfrm>
          <a:prstGeom prst="rect">
            <a:avLst/>
          </a:prstGeom>
          <a:solidFill>
            <a:srgbClr val="E4572E"/>
          </a:solidFill>
          <a:ln/>
        </p:spPr>
      </p:sp>
      <p:sp>
        <p:nvSpPr>
          <p:cNvPr id="8" name="Text 6"/>
          <p:cNvSpPr/>
          <p:nvPr/>
        </p:nvSpPr>
        <p:spPr>
          <a:xfrm>
            <a:off x="685800" y="1828800"/>
            <a:ext cx="1051560" cy="731520"/>
          </a:xfrm>
          <a:prstGeom prst="rect">
            <a:avLst/>
          </a:prstGeom>
          <a:noFill/>
          <a:ln/>
        </p:spPr>
        <p:txBody>
          <a:bodyPr wrap="square" lIns="0" tIns="0" rIns="0" bIns="0" rtlCol="0" anchor="ctr"/>
          <a:lstStyle/>
          <a:p>
            <a:pPr indent="0" marL="0">
              <a:buNone/>
            </a:pPr>
            <a:r>
              <a:rPr lang="en-US" sz="3000" b="1" dirty="0">
                <a:solidFill>
                  <a:srgbClr val="16213E"/>
                </a:solidFill>
                <a:latin typeface="Georgia" pitchFamily="34" charset="0"/>
                <a:ea typeface="Georgia" pitchFamily="34" charset="-122"/>
                <a:cs typeface="Georgia" pitchFamily="34" charset="-120"/>
              </a:rPr>
              <a:t>10%</a:t>
            </a:r>
            <a:endParaRPr lang="en-US" sz="3000" dirty="0"/>
          </a:p>
        </p:txBody>
      </p:sp>
      <p:sp>
        <p:nvSpPr>
          <p:cNvPr id="9" name="Text 7"/>
          <p:cNvSpPr/>
          <p:nvPr/>
        </p:nvSpPr>
        <p:spPr>
          <a:xfrm>
            <a:off x="1783080" y="1828800"/>
            <a:ext cx="3611880" cy="731520"/>
          </a:xfrm>
          <a:prstGeom prst="rect">
            <a:avLst/>
          </a:prstGeom>
          <a:noFill/>
          <a:ln/>
        </p:spPr>
        <p:txBody>
          <a:bodyPr wrap="square" lIns="0" tIns="0" rIns="0" bIns="0" rtlCol="0" anchor="ctr"/>
          <a:lstStyle/>
          <a:p>
            <a:pPr indent="0" marL="0">
              <a:buNone/>
            </a:pPr>
            <a:r>
              <a:rPr lang="en-US" sz="1200" dirty="0">
                <a:solidFill>
                  <a:srgbClr val="1B2540"/>
                </a:solidFill>
                <a:latin typeface="Calibri" pitchFamily="34" charset="0"/>
                <a:ea typeface="Calibri" pitchFamily="34" charset="-122"/>
                <a:cs typeface="Calibri" pitchFamily="34" charset="-120"/>
              </a:rPr>
              <a:t>pure shelfware - paying, zero consumption, invisible until renewal</a:t>
            </a:r>
            <a:endParaRPr lang="en-US" sz="1200" dirty="0"/>
          </a:p>
        </p:txBody>
      </p:sp>
      <p:sp>
        <p:nvSpPr>
          <p:cNvPr id="10" name="Shape 8"/>
          <p:cNvSpPr/>
          <p:nvPr/>
        </p:nvSpPr>
        <p:spPr>
          <a:xfrm>
            <a:off x="502920" y="2743200"/>
            <a:ext cx="5029200" cy="822960"/>
          </a:xfrm>
          <a:prstGeom prst="rect">
            <a:avLst/>
          </a:prstGeom>
          <a:solidFill>
            <a:srgbClr val="F4F7FC"/>
          </a:solidFill>
          <a:ln/>
          <a:effectLst>
            <a:outerShdw sx="100000" sy="100000" kx="0" ky="0" algn="bl" rotWithShape="0" blurRad="63500" dist="25400" dir="8100000">
              <a:srgbClr val="9AA7BF">
                <a:alpha val="30000"/>
              </a:srgbClr>
            </a:outerShdw>
          </a:effectLst>
        </p:spPr>
      </p:sp>
      <p:sp>
        <p:nvSpPr>
          <p:cNvPr id="11" name="Shape 9"/>
          <p:cNvSpPr/>
          <p:nvPr/>
        </p:nvSpPr>
        <p:spPr>
          <a:xfrm>
            <a:off x="502920" y="2743200"/>
            <a:ext cx="64008" cy="822960"/>
          </a:xfrm>
          <a:prstGeom prst="rect">
            <a:avLst/>
          </a:prstGeom>
          <a:solidFill>
            <a:srgbClr val="F9A825"/>
          </a:solidFill>
          <a:ln/>
        </p:spPr>
      </p:sp>
      <p:sp>
        <p:nvSpPr>
          <p:cNvPr id="12" name="Text 10"/>
          <p:cNvSpPr/>
          <p:nvPr/>
        </p:nvSpPr>
        <p:spPr>
          <a:xfrm>
            <a:off x="685800" y="2788920"/>
            <a:ext cx="1051560" cy="731520"/>
          </a:xfrm>
          <a:prstGeom prst="rect">
            <a:avLst/>
          </a:prstGeom>
          <a:noFill/>
          <a:ln/>
        </p:spPr>
        <p:txBody>
          <a:bodyPr wrap="square" lIns="0" tIns="0" rIns="0" bIns="0" rtlCol="0" anchor="ctr"/>
          <a:lstStyle/>
          <a:p>
            <a:pPr indent="0" marL="0">
              <a:buNone/>
            </a:pPr>
            <a:r>
              <a:rPr lang="en-US" sz="3000" b="1" dirty="0">
                <a:solidFill>
                  <a:srgbClr val="16213E"/>
                </a:solidFill>
                <a:latin typeface="Georgia" pitchFamily="34" charset="0"/>
                <a:ea typeface="Georgia" pitchFamily="34" charset="-122"/>
                <a:cs typeface="Georgia" pitchFamily="34" charset="-120"/>
              </a:rPr>
              <a:t>5%</a:t>
            </a:r>
            <a:endParaRPr lang="en-US" sz="3000" dirty="0"/>
          </a:p>
        </p:txBody>
      </p:sp>
      <p:sp>
        <p:nvSpPr>
          <p:cNvPr id="13" name="Text 11"/>
          <p:cNvSpPr/>
          <p:nvPr/>
        </p:nvSpPr>
        <p:spPr>
          <a:xfrm>
            <a:off x="1783080" y="2788920"/>
            <a:ext cx="3611880" cy="731520"/>
          </a:xfrm>
          <a:prstGeom prst="rect">
            <a:avLst/>
          </a:prstGeom>
          <a:noFill/>
          <a:ln/>
        </p:spPr>
        <p:txBody>
          <a:bodyPr wrap="square" lIns="0" tIns="0" rIns="0" bIns="0" rtlCol="0" anchor="ctr"/>
          <a:lstStyle/>
          <a:p>
            <a:pPr indent="0" marL="0">
              <a:buNone/>
            </a:pPr>
            <a:r>
              <a:rPr lang="en-US" sz="1200" dirty="0">
                <a:solidFill>
                  <a:srgbClr val="1B2540"/>
                </a:solidFill>
                <a:latin typeface="Calibri" pitchFamily="34" charset="0"/>
                <a:ea typeface="Calibri" pitchFamily="34" charset="-122"/>
                <a:cs typeface="Calibri" pitchFamily="34" charset="-120"/>
              </a:rPr>
              <a:t>burn ~90% of entitlements in 3 months, then go dark - today scored as heroes</a:t>
            </a:r>
            <a:endParaRPr lang="en-US" sz="1200" dirty="0"/>
          </a:p>
        </p:txBody>
      </p:sp>
      <p:sp>
        <p:nvSpPr>
          <p:cNvPr id="14" name="Shape 12"/>
          <p:cNvSpPr/>
          <p:nvPr/>
        </p:nvSpPr>
        <p:spPr>
          <a:xfrm>
            <a:off x="502920" y="3703320"/>
            <a:ext cx="5029200" cy="822960"/>
          </a:xfrm>
          <a:prstGeom prst="rect">
            <a:avLst/>
          </a:prstGeom>
          <a:solidFill>
            <a:srgbClr val="F4F7FC"/>
          </a:solidFill>
          <a:ln/>
          <a:effectLst>
            <a:outerShdw sx="100000" sy="100000" kx="0" ky="0" algn="bl" rotWithShape="0" blurRad="63500" dist="25400" dir="8100000">
              <a:srgbClr val="9AA7BF">
                <a:alpha val="30000"/>
              </a:srgbClr>
            </a:outerShdw>
          </a:effectLst>
        </p:spPr>
      </p:sp>
      <p:sp>
        <p:nvSpPr>
          <p:cNvPr id="15" name="Shape 13"/>
          <p:cNvSpPr/>
          <p:nvPr/>
        </p:nvSpPr>
        <p:spPr>
          <a:xfrm>
            <a:off x="502920" y="3703320"/>
            <a:ext cx="64008" cy="822960"/>
          </a:xfrm>
          <a:prstGeom prst="rect">
            <a:avLst/>
          </a:prstGeom>
          <a:solidFill>
            <a:srgbClr val="0B8F72"/>
          </a:solidFill>
          <a:ln/>
        </p:spPr>
      </p:sp>
      <p:sp>
        <p:nvSpPr>
          <p:cNvPr id="16" name="Text 14"/>
          <p:cNvSpPr/>
          <p:nvPr/>
        </p:nvSpPr>
        <p:spPr>
          <a:xfrm>
            <a:off x="685800" y="3749040"/>
            <a:ext cx="1051560" cy="731520"/>
          </a:xfrm>
          <a:prstGeom prst="rect">
            <a:avLst/>
          </a:prstGeom>
          <a:noFill/>
          <a:ln/>
        </p:spPr>
        <p:txBody>
          <a:bodyPr wrap="square" lIns="0" tIns="0" rIns="0" bIns="0" rtlCol="0" anchor="ctr"/>
          <a:lstStyle/>
          <a:p>
            <a:pPr indent="0" marL="0">
              <a:buNone/>
            </a:pPr>
            <a:r>
              <a:rPr lang="en-US" sz="3000" b="1" dirty="0">
                <a:solidFill>
                  <a:srgbClr val="16213E"/>
                </a:solidFill>
                <a:latin typeface="Georgia" pitchFamily="34" charset="0"/>
                <a:ea typeface="Georgia" pitchFamily="34" charset="-122"/>
                <a:cs typeface="Georgia" pitchFamily="34" charset="-120"/>
              </a:rPr>
              <a:t>15%</a:t>
            </a:r>
            <a:endParaRPr lang="en-US" sz="3000" dirty="0"/>
          </a:p>
        </p:txBody>
      </p:sp>
      <p:sp>
        <p:nvSpPr>
          <p:cNvPr id="17" name="Text 15"/>
          <p:cNvSpPr/>
          <p:nvPr/>
        </p:nvSpPr>
        <p:spPr>
          <a:xfrm>
            <a:off x="1783080" y="3749040"/>
            <a:ext cx="3611880" cy="731520"/>
          </a:xfrm>
          <a:prstGeom prst="rect">
            <a:avLst/>
          </a:prstGeom>
          <a:noFill/>
          <a:ln/>
        </p:spPr>
        <p:txBody>
          <a:bodyPr wrap="square" lIns="0" tIns="0" rIns="0" bIns="0" rtlCol="0" anchor="ctr"/>
          <a:lstStyle/>
          <a:p>
            <a:pPr indent="0" marL="0">
              <a:buNone/>
            </a:pPr>
            <a:r>
              <a:rPr lang="en-US" sz="1200" dirty="0">
                <a:solidFill>
                  <a:srgbClr val="1B2540"/>
                </a:solidFill>
                <a:latin typeface="Calibri" pitchFamily="34" charset="0"/>
                <a:ea typeface="Calibri" pitchFamily="34" charset="-122"/>
                <a:cs typeface="Calibri" pitchFamily="34" charset="-120"/>
              </a:rPr>
              <a:t>run at 120%+ every month - expansion revenue nobody systematically works</a:t>
            </a:r>
            <a:endParaRPr lang="en-US" sz="1200" dirty="0"/>
          </a:p>
        </p:txBody>
      </p:sp>
      <p:sp>
        <p:nvSpPr>
          <p:cNvPr id="18" name="Shape 16"/>
          <p:cNvSpPr/>
          <p:nvPr/>
        </p:nvSpPr>
        <p:spPr>
          <a:xfrm>
            <a:off x="5806440" y="1783080"/>
            <a:ext cx="2834640" cy="2926080"/>
          </a:xfrm>
          <a:prstGeom prst="rect">
            <a:avLst/>
          </a:prstGeom>
          <a:solidFill>
            <a:srgbClr val="F4F7FC"/>
          </a:solidFill>
          <a:ln/>
          <a:effectLst>
            <a:outerShdw sx="100000" sy="100000" kx="0" ky="0" algn="bl" rotWithShape="0" blurRad="63500" dist="25400" dir="8100000">
              <a:srgbClr val="9AA7BF">
                <a:alpha val="30000"/>
              </a:srgbClr>
            </a:outerShdw>
          </a:effectLst>
        </p:spPr>
      </p:sp>
      <p:sp>
        <p:nvSpPr>
          <p:cNvPr id="19" name="Shape 17"/>
          <p:cNvSpPr/>
          <p:nvPr/>
        </p:nvSpPr>
        <p:spPr>
          <a:xfrm>
            <a:off x="5806440" y="1783080"/>
            <a:ext cx="64008" cy="2926080"/>
          </a:xfrm>
          <a:prstGeom prst="rect">
            <a:avLst/>
          </a:prstGeom>
          <a:solidFill>
            <a:srgbClr val="16213E"/>
          </a:solidFill>
          <a:ln/>
        </p:spPr>
      </p:sp>
      <p:sp>
        <p:nvSpPr>
          <p:cNvPr id="20" name="Text 18"/>
          <p:cNvSpPr/>
          <p:nvPr/>
        </p:nvSpPr>
        <p:spPr>
          <a:xfrm>
            <a:off x="5989320" y="1938528"/>
            <a:ext cx="2514600" cy="457200"/>
          </a:xfrm>
          <a:prstGeom prst="rect">
            <a:avLst/>
          </a:prstGeom>
          <a:noFill/>
          <a:ln/>
        </p:spPr>
        <p:txBody>
          <a:bodyPr wrap="square" lIns="0" tIns="0" rIns="0" bIns="0" rtlCol="0" anchor="ctr"/>
          <a:lstStyle/>
          <a:p>
            <a:pPr indent="0" marL="0">
              <a:buNone/>
            </a:pPr>
            <a:r>
              <a:rPr lang="en-US" sz="1500" b="1" dirty="0">
                <a:solidFill>
                  <a:srgbClr val="16213E"/>
                </a:solidFill>
                <a:latin typeface="Georgia" pitchFamily="34" charset="0"/>
                <a:ea typeface="Georgia" pitchFamily="34" charset="-122"/>
                <a:cs typeface="Georgia" pitchFamily="34" charset="-120"/>
              </a:rPr>
              <a:t>Why leadership cares</a:t>
            </a:r>
            <a:endParaRPr lang="en-US" sz="1500" dirty="0"/>
          </a:p>
        </p:txBody>
      </p:sp>
      <p:sp>
        <p:nvSpPr>
          <p:cNvPr id="21" name="Text 19"/>
          <p:cNvSpPr/>
          <p:nvPr/>
        </p:nvSpPr>
        <p:spPr>
          <a:xfrm>
            <a:off x="5989320" y="2395728"/>
            <a:ext cx="2514600" cy="2240280"/>
          </a:xfrm>
          <a:prstGeom prst="rect">
            <a:avLst/>
          </a:prstGeom>
          <a:noFill/>
          <a:ln/>
        </p:spPr>
        <p:txBody>
          <a:bodyPr wrap="square" lIns="0" tIns="0" rIns="0" bIns="0" rtlCol="0" anchor="ctr"/>
          <a:lstStyle/>
          <a:p>
            <a:pPr marL="342900" indent="-342900">
              <a:spcAft>
                <a:spcPts val="800"/>
              </a:spcAft>
              <a:buSzPct val="100000"/>
              <a:buChar char="•"/>
            </a:pPr>
            <a:r>
              <a:rPr lang="en-US" sz="1200" dirty="0">
                <a:solidFill>
                  <a:srgbClr val="1B2540"/>
                </a:solidFill>
                <a:latin typeface="Calibri" pitchFamily="34" charset="0"/>
                <a:ea typeface="Calibri" pitchFamily="34" charset="-122"/>
                <a:cs typeface="Calibri" pitchFamily="34" charset="-120"/>
              </a:rPr>
              <a:t>Renewal surprises: churn risk hides behind cumulative usage charts</a:t>
            </a:r>
            <a:endParaRPr lang="en-US" sz="1200" dirty="0"/>
          </a:p>
          <a:p>
            <a:pPr marL="342900" indent="-342900">
              <a:spcAft>
                <a:spcPts val="800"/>
              </a:spcAft>
              <a:buSzPct val="100000"/>
              <a:buChar char="•"/>
            </a:pPr>
            <a:r>
              <a:rPr lang="en-US" sz="1200" dirty="0">
                <a:solidFill>
                  <a:srgbClr val="1B2540"/>
                </a:solidFill>
                <a:latin typeface="Calibri" pitchFamily="34" charset="0"/>
                <a:ea typeface="Calibri" pitchFamily="34" charset="-122"/>
                <a:cs typeface="Calibri" pitchFamily="34" charset="-120"/>
              </a:rPr>
              <a:t>Wrong incentives: teams paid on volume they can game</a:t>
            </a:r>
            <a:endParaRPr lang="en-US" sz="1200" dirty="0"/>
          </a:p>
          <a:p>
            <a:pPr marL="342900" indent="-342900">
              <a:spcAft>
                <a:spcPts val="800"/>
              </a:spcAft>
              <a:buSzPct val="100000"/>
              <a:buChar char="•"/>
            </a:pPr>
            <a:r>
              <a:rPr lang="en-US" sz="1200" dirty="0">
                <a:solidFill>
                  <a:srgbClr val="1B2540"/>
                </a:solidFill>
                <a:latin typeface="Calibri" pitchFamily="34" charset="0"/>
                <a:ea typeface="Calibri" pitchFamily="34" charset="-122"/>
                <a:cs typeface="Calibri" pitchFamily="34" charset="-120"/>
              </a:rPr>
              <a:t>SKUs bundle many features - we measure the bundle, not whether value inside it is realized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6213E"/>
          </a:solidFill>
          <a:ln/>
        </p:spPr>
      </p:sp>
      <p:sp>
        <p:nvSpPr>
          <p:cNvPr id="3" name="Text 1"/>
          <p:cNvSpPr/>
          <p:nvPr/>
        </p:nvSpPr>
        <p:spPr>
          <a:xfrm>
            <a:off x="502920" y="256032"/>
            <a:ext cx="8138160" cy="274320"/>
          </a:xfrm>
          <a:prstGeom prst="rect">
            <a:avLst/>
          </a:prstGeom>
          <a:noFill/>
          <a:ln/>
        </p:spPr>
        <p:txBody>
          <a:bodyPr wrap="square" lIns="0" tIns="0" rIns="0" bIns="0" rtlCol="0" anchor="ctr"/>
          <a:lstStyle/>
          <a:p>
            <a:pPr indent="0" marL="0">
              <a:buNone/>
            </a:pPr>
            <a:r>
              <a:rPr lang="en-US" sz="1100" b="1" spc="300" kern="0" dirty="0">
                <a:solidFill>
                  <a:srgbClr val="0B8F72"/>
                </a:solidFill>
                <a:latin typeface="Calibri" pitchFamily="34" charset="0"/>
                <a:ea typeface="Calibri" pitchFamily="34" charset="-122"/>
                <a:cs typeface="Calibri" pitchFamily="34" charset="-120"/>
              </a:rPr>
              <a:t>TECHNICAL DEEP DIVE · THE METRIC</a:t>
            </a:r>
            <a:endParaRPr lang="en-US" sz="1100" dirty="0"/>
          </a:p>
        </p:txBody>
      </p:sp>
      <p:sp>
        <p:nvSpPr>
          <p:cNvPr id="4" name="Text 2"/>
          <p:cNvSpPr/>
          <p:nvPr/>
        </p:nvSpPr>
        <p:spPr>
          <a:xfrm>
            <a:off x="502920" y="475488"/>
            <a:ext cx="8138160" cy="685800"/>
          </a:xfrm>
          <a:prstGeom prst="rect">
            <a:avLst/>
          </a:prstGeom>
          <a:noFill/>
          <a:ln/>
        </p:spPr>
        <p:txBody>
          <a:bodyPr wrap="square" lIns="0" tIns="0" rIns="0" bIns="0" rtlCol="0" anchor="t"/>
          <a:lstStyle/>
          <a:p>
            <a:pPr indent="0" marL="0">
              <a:buNone/>
            </a:pPr>
            <a:r>
              <a:rPr lang="en-US" sz="2900" b="1" dirty="0">
                <a:solidFill>
                  <a:srgbClr val="16213E"/>
                </a:solidFill>
                <a:latin typeface="Georgia" pitchFamily="34" charset="0"/>
                <a:ea typeface="Georgia" pitchFamily="34" charset="-122"/>
                <a:cs typeface="Georgia" pitchFamily="34" charset="-120"/>
              </a:rPr>
              <a:t>One score, four honest components</a:t>
            </a:r>
            <a:endParaRPr lang="en-US" sz="2900" dirty="0"/>
          </a:p>
        </p:txBody>
      </p:sp>
      <p:sp>
        <p:nvSpPr>
          <p:cNvPr id="5" name="Shape 3"/>
          <p:cNvSpPr/>
          <p:nvPr/>
        </p:nvSpPr>
        <p:spPr>
          <a:xfrm>
            <a:off x="502920" y="1298448"/>
            <a:ext cx="3977640" cy="877824"/>
          </a:xfrm>
          <a:prstGeom prst="rect">
            <a:avLst/>
          </a:prstGeom>
          <a:solidFill>
            <a:srgbClr val="F4F7FC"/>
          </a:solidFill>
          <a:ln/>
          <a:effectLst>
            <a:outerShdw sx="100000" sy="100000" kx="0" ky="0" algn="bl" rotWithShape="0" blurRad="63500" dist="25400" dir="8100000">
              <a:srgbClr val="9AA7BF">
                <a:alpha val="30000"/>
              </a:srgbClr>
            </a:outerShdw>
          </a:effectLst>
        </p:spPr>
      </p:sp>
      <p:sp>
        <p:nvSpPr>
          <p:cNvPr id="6" name="Shape 4"/>
          <p:cNvSpPr/>
          <p:nvPr/>
        </p:nvSpPr>
        <p:spPr>
          <a:xfrm>
            <a:off x="502920" y="1298448"/>
            <a:ext cx="64008" cy="877824"/>
          </a:xfrm>
          <a:prstGeom prst="rect">
            <a:avLst/>
          </a:prstGeom>
          <a:solidFill>
            <a:srgbClr val="16213E"/>
          </a:solidFill>
          <a:ln/>
        </p:spPr>
      </p:sp>
      <p:sp>
        <p:nvSpPr>
          <p:cNvPr id="7" name="Text 5"/>
          <p:cNvSpPr/>
          <p:nvPr/>
        </p:nvSpPr>
        <p:spPr>
          <a:xfrm>
            <a:off x="667512" y="1371600"/>
            <a:ext cx="868680" cy="731520"/>
          </a:xfrm>
          <a:prstGeom prst="rect">
            <a:avLst/>
          </a:prstGeom>
          <a:noFill/>
          <a:ln/>
        </p:spPr>
        <p:txBody>
          <a:bodyPr wrap="square" lIns="0" tIns="0" rIns="0" bIns="0" rtlCol="0" anchor="ctr"/>
          <a:lstStyle/>
          <a:p>
            <a:pPr indent="0" marL="0">
              <a:buNone/>
            </a:pPr>
            <a:r>
              <a:rPr lang="en-US" sz="2600" b="1" dirty="0">
                <a:solidFill>
                  <a:srgbClr val="16213E"/>
                </a:solidFill>
                <a:latin typeface="Georgia" pitchFamily="34" charset="0"/>
                <a:ea typeface="Georgia" pitchFamily="34" charset="-122"/>
                <a:cs typeface="Georgia" pitchFamily="34" charset="-120"/>
              </a:rPr>
              <a:t>40%</a:t>
            </a:r>
            <a:endParaRPr lang="en-US" sz="2600" dirty="0"/>
          </a:p>
        </p:txBody>
      </p:sp>
      <p:sp>
        <p:nvSpPr>
          <p:cNvPr id="8" name="Text 6"/>
          <p:cNvSpPr/>
          <p:nvPr/>
        </p:nvSpPr>
        <p:spPr>
          <a:xfrm>
            <a:off x="1600200" y="1371600"/>
            <a:ext cx="2743200" cy="731520"/>
          </a:xfrm>
          <a:prstGeom prst="rect">
            <a:avLst/>
          </a:prstGeom>
          <a:noFill/>
          <a:ln/>
        </p:spPr>
        <p:txBody>
          <a:bodyPr wrap="square" lIns="0" tIns="0" rIns="0" bIns="0" rtlCol="0" anchor="ctr"/>
          <a:lstStyle/>
          <a:p>
            <a:pPr indent="0" marL="0">
              <a:buNone/>
            </a:pPr>
            <a:r>
              <a:rPr lang="en-US" sz="1300" b="1" dirty="0">
                <a:solidFill>
                  <a:srgbClr val="1B2540"/>
                </a:solidFill>
                <a:latin typeface="Calibri" pitchFamily="34" charset="0"/>
                <a:ea typeface="Calibri" pitchFamily="34" charset="-122"/>
                <a:cs typeface="Calibri" pitchFamily="34" charset="-120"/>
              </a:rPr>
              <a:t>Consumption utilization</a:t>
            </a:r>
            <a:endParaRPr lang="en-US" sz="1300" dirty="0"/>
          </a:p>
          <a:p>
            <a:pPr indent="0" marL="0">
              <a:buNone/>
            </a:pPr>
            <a:r>
              <a:rPr lang="en-US" sz="1050" dirty="0">
                <a:solidFill>
                  <a:srgbClr val="51607A"/>
                </a:solidFill>
                <a:latin typeface="Calibri" pitchFamily="34" charset="0"/>
                <a:ea typeface="Calibri" pitchFamily="34" charset="-122"/>
                <a:cs typeface="Calibri" pitchFamily="34" charset="-120"/>
              </a:rPr>
              <a:t>Consumed vs entitled, capped at 100% - burning faster is not healthier</a:t>
            </a:r>
            <a:endParaRPr lang="en-US" sz="1300" dirty="0"/>
          </a:p>
        </p:txBody>
      </p:sp>
      <p:sp>
        <p:nvSpPr>
          <p:cNvPr id="9" name="Shape 7"/>
          <p:cNvSpPr/>
          <p:nvPr/>
        </p:nvSpPr>
        <p:spPr>
          <a:xfrm>
            <a:off x="4709160" y="1298448"/>
            <a:ext cx="3977640" cy="877824"/>
          </a:xfrm>
          <a:prstGeom prst="rect">
            <a:avLst/>
          </a:prstGeom>
          <a:solidFill>
            <a:srgbClr val="F4F7FC"/>
          </a:solidFill>
          <a:ln/>
          <a:effectLst>
            <a:outerShdw sx="100000" sy="100000" kx="0" ky="0" algn="bl" rotWithShape="0" blurRad="63500" dist="25400" dir="8100000">
              <a:srgbClr val="9AA7BF">
                <a:alpha val="30000"/>
              </a:srgbClr>
            </a:outerShdw>
          </a:effectLst>
        </p:spPr>
      </p:sp>
      <p:sp>
        <p:nvSpPr>
          <p:cNvPr id="10" name="Shape 8"/>
          <p:cNvSpPr/>
          <p:nvPr/>
        </p:nvSpPr>
        <p:spPr>
          <a:xfrm>
            <a:off x="4709160" y="1298448"/>
            <a:ext cx="64008" cy="877824"/>
          </a:xfrm>
          <a:prstGeom prst="rect">
            <a:avLst/>
          </a:prstGeom>
          <a:solidFill>
            <a:srgbClr val="0B8F72"/>
          </a:solidFill>
          <a:ln/>
        </p:spPr>
      </p:sp>
      <p:sp>
        <p:nvSpPr>
          <p:cNvPr id="11" name="Text 9"/>
          <p:cNvSpPr/>
          <p:nvPr/>
        </p:nvSpPr>
        <p:spPr>
          <a:xfrm>
            <a:off x="4873752" y="1371600"/>
            <a:ext cx="868680" cy="731520"/>
          </a:xfrm>
          <a:prstGeom prst="rect">
            <a:avLst/>
          </a:prstGeom>
          <a:noFill/>
          <a:ln/>
        </p:spPr>
        <p:txBody>
          <a:bodyPr wrap="square" lIns="0" tIns="0" rIns="0" bIns="0" rtlCol="0" anchor="ctr"/>
          <a:lstStyle/>
          <a:p>
            <a:pPr indent="0" marL="0">
              <a:buNone/>
            </a:pPr>
            <a:r>
              <a:rPr lang="en-US" sz="2600" b="1" dirty="0">
                <a:solidFill>
                  <a:srgbClr val="16213E"/>
                </a:solidFill>
                <a:latin typeface="Georgia" pitchFamily="34" charset="0"/>
                <a:ea typeface="Georgia" pitchFamily="34" charset="-122"/>
                <a:cs typeface="Georgia" pitchFamily="34" charset="-120"/>
              </a:rPr>
              <a:t>30%</a:t>
            </a:r>
            <a:endParaRPr lang="en-US" sz="2600" dirty="0"/>
          </a:p>
        </p:txBody>
      </p:sp>
      <p:sp>
        <p:nvSpPr>
          <p:cNvPr id="12" name="Text 10"/>
          <p:cNvSpPr/>
          <p:nvPr/>
        </p:nvSpPr>
        <p:spPr>
          <a:xfrm>
            <a:off x="5806440" y="1371600"/>
            <a:ext cx="2743200" cy="731520"/>
          </a:xfrm>
          <a:prstGeom prst="rect">
            <a:avLst/>
          </a:prstGeom>
          <a:noFill/>
          <a:ln/>
        </p:spPr>
        <p:txBody>
          <a:bodyPr wrap="square" lIns="0" tIns="0" rIns="0" bIns="0" rtlCol="0" anchor="ctr"/>
          <a:lstStyle/>
          <a:p>
            <a:pPr indent="0" marL="0">
              <a:buNone/>
            </a:pPr>
            <a:r>
              <a:rPr lang="en-US" sz="1300" b="1" dirty="0">
                <a:solidFill>
                  <a:srgbClr val="1B2540"/>
                </a:solidFill>
                <a:latin typeface="Calibri" pitchFamily="34" charset="0"/>
                <a:ea typeface="Calibri" pitchFamily="34" charset="-122"/>
                <a:cs typeface="Calibri" pitchFamily="34" charset="-120"/>
              </a:rPr>
              <a:t>Feature adoption depth</a:t>
            </a:r>
            <a:endParaRPr lang="en-US" sz="1300" dirty="0"/>
          </a:p>
          <a:p>
            <a:pPr indent="0" marL="0">
              <a:buNone/>
            </a:pPr>
            <a:r>
              <a:rPr lang="en-US" sz="1050" dirty="0">
                <a:solidFill>
                  <a:srgbClr val="51607A"/>
                </a:solidFill>
                <a:latin typeface="Calibri" pitchFamily="34" charset="0"/>
                <a:ea typeface="Calibri" pitchFamily="34" charset="-122"/>
                <a:cs typeface="Calibri" pitchFamily="34" charset="-120"/>
              </a:rPr>
              <a:t>Features used vs eligible, per SKU - catches shallow deployments</a:t>
            </a:r>
            <a:endParaRPr lang="en-US" sz="1300" dirty="0"/>
          </a:p>
        </p:txBody>
      </p:sp>
      <p:sp>
        <p:nvSpPr>
          <p:cNvPr id="13" name="Shape 11"/>
          <p:cNvSpPr/>
          <p:nvPr/>
        </p:nvSpPr>
        <p:spPr>
          <a:xfrm>
            <a:off x="502920" y="2322576"/>
            <a:ext cx="3977640" cy="877824"/>
          </a:xfrm>
          <a:prstGeom prst="rect">
            <a:avLst/>
          </a:prstGeom>
          <a:solidFill>
            <a:srgbClr val="F4F7FC"/>
          </a:solidFill>
          <a:ln/>
          <a:effectLst>
            <a:outerShdw sx="100000" sy="100000" kx="0" ky="0" algn="bl" rotWithShape="0" blurRad="63500" dist="25400" dir="8100000">
              <a:srgbClr val="9AA7BF">
                <a:alpha val="30000"/>
              </a:srgbClr>
            </a:outerShdw>
          </a:effectLst>
        </p:spPr>
      </p:sp>
      <p:sp>
        <p:nvSpPr>
          <p:cNvPr id="14" name="Shape 12"/>
          <p:cNvSpPr/>
          <p:nvPr/>
        </p:nvSpPr>
        <p:spPr>
          <a:xfrm>
            <a:off x="502920" y="2322576"/>
            <a:ext cx="64008" cy="877824"/>
          </a:xfrm>
          <a:prstGeom prst="rect">
            <a:avLst/>
          </a:prstGeom>
          <a:solidFill>
            <a:srgbClr val="F9A825"/>
          </a:solidFill>
          <a:ln/>
        </p:spPr>
      </p:sp>
      <p:sp>
        <p:nvSpPr>
          <p:cNvPr id="15" name="Text 13"/>
          <p:cNvSpPr/>
          <p:nvPr/>
        </p:nvSpPr>
        <p:spPr>
          <a:xfrm>
            <a:off x="667512" y="2395728"/>
            <a:ext cx="868680" cy="731520"/>
          </a:xfrm>
          <a:prstGeom prst="rect">
            <a:avLst/>
          </a:prstGeom>
          <a:noFill/>
          <a:ln/>
        </p:spPr>
        <p:txBody>
          <a:bodyPr wrap="square" lIns="0" tIns="0" rIns="0" bIns="0" rtlCol="0" anchor="ctr"/>
          <a:lstStyle/>
          <a:p>
            <a:pPr indent="0" marL="0">
              <a:buNone/>
            </a:pPr>
            <a:r>
              <a:rPr lang="en-US" sz="2600" b="1" dirty="0">
                <a:solidFill>
                  <a:srgbClr val="16213E"/>
                </a:solidFill>
                <a:latin typeface="Georgia" pitchFamily="34" charset="0"/>
                <a:ea typeface="Georgia" pitchFamily="34" charset="-122"/>
                <a:cs typeface="Georgia" pitchFamily="34" charset="-120"/>
              </a:rPr>
              <a:t>20%</a:t>
            </a:r>
            <a:endParaRPr lang="en-US" sz="2600" dirty="0"/>
          </a:p>
        </p:txBody>
      </p:sp>
      <p:sp>
        <p:nvSpPr>
          <p:cNvPr id="16" name="Text 14"/>
          <p:cNvSpPr/>
          <p:nvPr/>
        </p:nvSpPr>
        <p:spPr>
          <a:xfrm>
            <a:off x="1600200" y="2395728"/>
            <a:ext cx="2743200" cy="731520"/>
          </a:xfrm>
          <a:prstGeom prst="rect">
            <a:avLst/>
          </a:prstGeom>
          <a:noFill/>
          <a:ln/>
        </p:spPr>
        <p:txBody>
          <a:bodyPr wrap="square" lIns="0" tIns="0" rIns="0" bIns="0" rtlCol="0" anchor="ctr"/>
          <a:lstStyle/>
          <a:p>
            <a:pPr indent="0" marL="0">
              <a:buNone/>
            </a:pPr>
            <a:r>
              <a:rPr lang="en-US" sz="1300" b="1" dirty="0">
                <a:solidFill>
                  <a:srgbClr val="1B2540"/>
                </a:solidFill>
                <a:latin typeface="Calibri" pitchFamily="34" charset="0"/>
                <a:ea typeface="Calibri" pitchFamily="34" charset="-122"/>
                <a:cs typeface="Calibri" pitchFamily="34" charset="-120"/>
              </a:rPr>
              <a:t>Consistency</a:t>
            </a:r>
            <a:endParaRPr lang="en-US" sz="1300" dirty="0"/>
          </a:p>
          <a:p>
            <a:pPr indent="0" marL="0">
              <a:buNone/>
            </a:pPr>
            <a:r>
              <a:rPr lang="en-US" sz="1050" dirty="0">
                <a:solidFill>
                  <a:srgbClr val="51607A"/>
                </a:solidFill>
                <a:latin typeface="Calibri" pitchFamily="34" charset="0"/>
                <a:ea typeface="Calibri" pitchFamily="34" charset="-122"/>
                <a:cs typeface="Calibri" pitchFamily="34" charset="-120"/>
              </a:rPr>
              <a:t>Trailing 3-month trend vs peak - punishes spike-and-drop within a month</a:t>
            </a:r>
            <a:endParaRPr lang="en-US" sz="1300" dirty="0"/>
          </a:p>
        </p:txBody>
      </p:sp>
      <p:sp>
        <p:nvSpPr>
          <p:cNvPr id="17" name="Shape 15"/>
          <p:cNvSpPr/>
          <p:nvPr/>
        </p:nvSpPr>
        <p:spPr>
          <a:xfrm>
            <a:off x="4709160" y="2322576"/>
            <a:ext cx="3977640" cy="877824"/>
          </a:xfrm>
          <a:prstGeom prst="rect">
            <a:avLst/>
          </a:prstGeom>
          <a:solidFill>
            <a:srgbClr val="F4F7FC"/>
          </a:solidFill>
          <a:ln/>
          <a:effectLst>
            <a:outerShdw sx="100000" sy="100000" kx="0" ky="0" algn="bl" rotWithShape="0" blurRad="63500" dist="25400" dir="8100000">
              <a:srgbClr val="9AA7BF">
                <a:alpha val="30000"/>
              </a:srgbClr>
            </a:outerShdw>
          </a:effectLst>
        </p:spPr>
      </p:sp>
      <p:sp>
        <p:nvSpPr>
          <p:cNvPr id="18" name="Shape 16"/>
          <p:cNvSpPr/>
          <p:nvPr/>
        </p:nvSpPr>
        <p:spPr>
          <a:xfrm>
            <a:off x="4709160" y="2322576"/>
            <a:ext cx="64008" cy="877824"/>
          </a:xfrm>
          <a:prstGeom prst="rect">
            <a:avLst/>
          </a:prstGeom>
          <a:solidFill>
            <a:srgbClr val="E4572E"/>
          </a:solidFill>
          <a:ln/>
        </p:spPr>
      </p:sp>
      <p:sp>
        <p:nvSpPr>
          <p:cNvPr id="19" name="Text 17"/>
          <p:cNvSpPr/>
          <p:nvPr/>
        </p:nvSpPr>
        <p:spPr>
          <a:xfrm>
            <a:off x="4873752" y="2395728"/>
            <a:ext cx="868680" cy="731520"/>
          </a:xfrm>
          <a:prstGeom prst="rect">
            <a:avLst/>
          </a:prstGeom>
          <a:noFill/>
          <a:ln/>
        </p:spPr>
        <p:txBody>
          <a:bodyPr wrap="square" lIns="0" tIns="0" rIns="0" bIns="0" rtlCol="0" anchor="ctr"/>
          <a:lstStyle/>
          <a:p>
            <a:pPr indent="0" marL="0">
              <a:buNone/>
            </a:pPr>
            <a:r>
              <a:rPr lang="en-US" sz="2600" b="1" dirty="0">
                <a:solidFill>
                  <a:srgbClr val="16213E"/>
                </a:solidFill>
                <a:latin typeface="Georgia" pitchFamily="34" charset="0"/>
                <a:ea typeface="Georgia" pitchFamily="34" charset="-122"/>
                <a:cs typeface="Georgia" pitchFamily="34" charset="-120"/>
              </a:rPr>
              <a:t>10%</a:t>
            </a:r>
            <a:endParaRPr lang="en-US" sz="2600" dirty="0"/>
          </a:p>
        </p:txBody>
      </p:sp>
      <p:sp>
        <p:nvSpPr>
          <p:cNvPr id="20" name="Text 18"/>
          <p:cNvSpPr/>
          <p:nvPr/>
        </p:nvSpPr>
        <p:spPr>
          <a:xfrm>
            <a:off x="5806440" y="2395728"/>
            <a:ext cx="2743200" cy="731520"/>
          </a:xfrm>
          <a:prstGeom prst="rect">
            <a:avLst/>
          </a:prstGeom>
          <a:noFill/>
          <a:ln/>
        </p:spPr>
        <p:txBody>
          <a:bodyPr wrap="square" lIns="0" tIns="0" rIns="0" bIns="0" rtlCol="0" anchor="ctr"/>
          <a:lstStyle/>
          <a:p>
            <a:pPr indent="0" marL="0">
              <a:buNone/>
            </a:pPr>
            <a:r>
              <a:rPr lang="en-US" sz="1300" b="1" dirty="0">
                <a:solidFill>
                  <a:srgbClr val="1B2540"/>
                </a:solidFill>
                <a:latin typeface="Calibri" pitchFamily="34" charset="0"/>
                <a:ea typeface="Calibri" pitchFamily="34" charset="-122"/>
                <a:cs typeface="Calibri" pitchFamily="34" charset="-120"/>
              </a:rPr>
              <a:t>Breadth</a:t>
            </a:r>
            <a:endParaRPr lang="en-US" sz="1300" dirty="0"/>
          </a:p>
          <a:p>
            <a:pPr indent="0" marL="0">
              <a:buNone/>
            </a:pPr>
            <a:r>
              <a:rPr lang="en-US" sz="1050" dirty="0">
                <a:solidFill>
                  <a:srgbClr val="51607A"/>
                </a:solidFill>
                <a:latin typeface="Calibri" pitchFamily="34" charset="0"/>
                <a:ea typeface="Calibri" pitchFamily="34" charset="-122"/>
                <a:cs typeface="Calibri" pitchFamily="34" charset="-120"/>
              </a:rPr>
              <a:t>SKUs with real usage vs owned - no credit for ignored products</a:t>
            </a:r>
            <a:endParaRPr lang="en-US" sz="1300" dirty="0"/>
          </a:p>
        </p:txBody>
      </p:sp>
      <p:sp>
        <p:nvSpPr>
          <p:cNvPr id="21" name="Shape 19"/>
          <p:cNvSpPr/>
          <p:nvPr/>
        </p:nvSpPr>
        <p:spPr>
          <a:xfrm>
            <a:off x="502920" y="3456432"/>
            <a:ext cx="8138160" cy="658368"/>
          </a:xfrm>
          <a:prstGeom prst="rect">
            <a:avLst/>
          </a:prstGeom>
          <a:solidFill>
            <a:srgbClr val="16213E"/>
          </a:solidFill>
          <a:ln/>
        </p:spPr>
      </p:sp>
      <p:sp>
        <p:nvSpPr>
          <p:cNvPr id="22" name="Text 20"/>
          <p:cNvSpPr/>
          <p:nvPr/>
        </p:nvSpPr>
        <p:spPr>
          <a:xfrm>
            <a:off x="685800" y="3456432"/>
            <a:ext cx="7772400" cy="658368"/>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Health tiers drive playbooks:  </a:t>
            </a:r>
            <a:pPr indent="0" marL="0">
              <a:buNone/>
            </a:pPr>
            <a:r>
              <a:rPr lang="en-US" sz="1200" b="1" dirty="0">
                <a:solidFill>
                  <a:srgbClr val="7BE3C6"/>
                </a:solidFill>
                <a:latin typeface="Calibri" pitchFamily="34" charset="0"/>
                <a:ea typeface="Calibri" pitchFamily="34" charset="-122"/>
                <a:cs typeface="Calibri" pitchFamily="34" charset="-120"/>
              </a:rPr>
              <a:t>Healthy 70+</a:t>
            </a:r>
            <a:pPr indent="0" marL="0">
              <a:buNone/>
            </a:pPr>
            <a:r>
              <a:rPr lang="en-US" sz="1200" b="1" dirty="0">
                <a:solidFill>
                  <a:srgbClr val="F5D97E"/>
                </a:solidFill>
                <a:latin typeface="Calibri" pitchFamily="34" charset="0"/>
                <a:ea typeface="Calibri" pitchFamily="34" charset="-122"/>
                <a:cs typeface="Calibri" pitchFamily="34" charset="-120"/>
              </a:rPr>
              <a:t>   Watch 40-69</a:t>
            </a:r>
            <a:pPr indent="0" marL="0">
              <a:buNone/>
            </a:pPr>
            <a:r>
              <a:rPr lang="en-US" sz="1200" b="1" dirty="0">
                <a:solidFill>
                  <a:srgbClr val="FFB48A"/>
                </a:solidFill>
                <a:latin typeface="Calibri" pitchFamily="34" charset="0"/>
                <a:ea typeface="Calibri" pitchFamily="34" charset="-122"/>
                <a:cs typeface="Calibri" pitchFamily="34" charset="-120"/>
              </a:rPr>
              <a:t>   At Risk &lt;40 or drop</a:t>
            </a:r>
            <a:pPr indent="0" marL="0">
              <a:buNone/>
            </a:pPr>
            <a:r>
              <a:rPr lang="en-US" sz="1200" b="1" dirty="0">
                <a:solidFill>
                  <a:srgbClr val="FF9E9E"/>
                </a:solidFill>
                <a:latin typeface="Calibri" pitchFamily="34" charset="0"/>
                <a:ea typeface="Calibri" pitchFamily="34" charset="-122"/>
                <a:cs typeface="Calibri" pitchFamily="34" charset="-120"/>
              </a:rPr>
              <a:t>   Shelfware = zero use</a:t>
            </a:r>
            <a:endParaRPr lang="en-US" sz="1200" dirty="0"/>
          </a:p>
        </p:txBody>
      </p:sp>
      <p:sp>
        <p:nvSpPr>
          <p:cNvPr id="23" name="Text 21"/>
          <p:cNvSpPr/>
          <p:nvPr/>
        </p:nvSpPr>
        <p:spPr>
          <a:xfrm>
            <a:off x="502920" y="4251960"/>
            <a:ext cx="8138160" cy="640080"/>
          </a:xfrm>
          <a:prstGeom prst="rect">
            <a:avLst/>
          </a:prstGeom>
          <a:noFill/>
          <a:ln/>
        </p:spPr>
        <p:txBody>
          <a:bodyPr wrap="square" lIns="0" tIns="0" rIns="0" bIns="0" rtlCol="0" anchor="t"/>
          <a:lstStyle/>
          <a:p>
            <a:pPr indent="0" marL="0">
              <a:buNone/>
            </a:pPr>
            <a:r>
              <a:rPr lang="en-US" sz="1200" b="1" dirty="0">
                <a:solidFill>
                  <a:srgbClr val="16213E"/>
                </a:solidFill>
                <a:latin typeface="Calibri" pitchFamily="34" charset="0"/>
                <a:ea typeface="Calibri" pitchFamily="34" charset="-122"/>
                <a:cs typeface="Calibri" pitchFamily="34" charset="-120"/>
              </a:rPr>
              <a:t>Revenue overlay:  </a:t>
            </a:r>
            <a:pPr indent="0" marL="0">
              <a:buNone/>
            </a:pPr>
            <a:r>
              <a:rPr lang="en-US" sz="1150" dirty="0">
                <a:solidFill>
                  <a:srgbClr val="1B2540"/>
                </a:solidFill>
                <a:latin typeface="Calibri" pitchFamily="34" charset="0"/>
                <a:ea typeface="Calibri" pitchFamily="34" charset="-122"/>
                <a:cs typeface="Calibri" pitchFamily="34" charset="-120"/>
              </a:rPr>
              <a:t>committed ARR, ARR-at-risk, and expansion pipeline sit alongside the score - never inside it (utilization is capped; a test proves CVRS depends only on its four components).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6213E"/>
          </a:solidFill>
          <a:ln/>
        </p:spPr>
      </p:sp>
      <p:sp>
        <p:nvSpPr>
          <p:cNvPr id="3" name="Text 1"/>
          <p:cNvSpPr/>
          <p:nvPr/>
        </p:nvSpPr>
        <p:spPr>
          <a:xfrm>
            <a:off x="502920" y="256032"/>
            <a:ext cx="8138160" cy="274320"/>
          </a:xfrm>
          <a:prstGeom prst="rect">
            <a:avLst/>
          </a:prstGeom>
          <a:noFill/>
          <a:ln/>
        </p:spPr>
        <p:txBody>
          <a:bodyPr wrap="square" lIns="0" tIns="0" rIns="0" bIns="0" rtlCol="0" anchor="ctr"/>
          <a:lstStyle/>
          <a:p>
            <a:pPr indent="0" marL="0">
              <a:buNone/>
            </a:pPr>
            <a:r>
              <a:rPr lang="en-US" sz="1100" b="1" spc="300" kern="0" dirty="0">
                <a:solidFill>
                  <a:srgbClr val="0B8F72"/>
                </a:solidFill>
                <a:latin typeface="Calibri" pitchFamily="34" charset="0"/>
                <a:ea typeface="Calibri" pitchFamily="34" charset="-122"/>
                <a:cs typeface="Calibri" pitchFamily="34" charset="-120"/>
              </a:rPr>
              <a:t>TECHNICAL DEEP DIVE · ARCHITECTURE</a:t>
            </a:r>
            <a:endParaRPr lang="en-US" sz="1100" dirty="0"/>
          </a:p>
        </p:txBody>
      </p:sp>
      <p:sp>
        <p:nvSpPr>
          <p:cNvPr id="4" name="Text 2"/>
          <p:cNvSpPr/>
          <p:nvPr/>
        </p:nvSpPr>
        <p:spPr>
          <a:xfrm>
            <a:off x="502920" y="475488"/>
            <a:ext cx="8138160" cy="685800"/>
          </a:xfrm>
          <a:prstGeom prst="rect">
            <a:avLst/>
          </a:prstGeom>
          <a:noFill/>
          <a:ln/>
        </p:spPr>
        <p:txBody>
          <a:bodyPr wrap="square" lIns="0" tIns="0" rIns="0" bIns="0" rtlCol="0" anchor="t"/>
          <a:lstStyle/>
          <a:p>
            <a:pPr indent="0" marL="0">
              <a:buNone/>
            </a:pPr>
            <a:r>
              <a:rPr lang="en-US" sz="2900" b="1" dirty="0">
                <a:solidFill>
                  <a:srgbClr val="16213E"/>
                </a:solidFill>
                <a:latin typeface="Georgia" pitchFamily="34" charset="0"/>
                <a:ea typeface="Georgia" pitchFamily="34" charset="-122"/>
                <a:cs typeface="Georgia" pitchFamily="34" charset="-120"/>
              </a:rPr>
              <a:t>From synthetic data to executive dashboard</a:t>
            </a:r>
            <a:endParaRPr lang="en-US" sz="2900" dirty="0"/>
          </a:p>
        </p:txBody>
      </p:sp>
      <p:sp>
        <p:nvSpPr>
          <p:cNvPr id="5" name="Shape 3"/>
          <p:cNvSpPr/>
          <p:nvPr/>
        </p:nvSpPr>
        <p:spPr>
          <a:xfrm>
            <a:off x="502920" y="1325880"/>
            <a:ext cx="1874520" cy="1051560"/>
          </a:xfrm>
          <a:prstGeom prst="rect">
            <a:avLst/>
          </a:prstGeom>
          <a:solidFill>
            <a:srgbClr val="F4F7FC"/>
          </a:solidFill>
          <a:ln/>
          <a:effectLst>
            <a:outerShdw sx="100000" sy="100000" kx="0" ky="0" algn="bl" rotWithShape="0" blurRad="63500" dist="25400" dir="8100000">
              <a:srgbClr val="9AA7BF">
                <a:alpha val="30000"/>
              </a:srgbClr>
            </a:outerShdw>
          </a:effectLst>
        </p:spPr>
      </p:sp>
      <p:sp>
        <p:nvSpPr>
          <p:cNvPr id="6" name="Shape 4"/>
          <p:cNvSpPr/>
          <p:nvPr/>
        </p:nvSpPr>
        <p:spPr>
          <a:xfrm>
            <a:off x="502920" y="1325880"/>
            <a:ext cx="64008" cy="1051560"/>
          </a:xfrm>
          <a:prstGeom prst="rect">
            <a:avLst/>
          </a:prstGeom>
          <a:solidFill>
            <a:srgbClr val="16213E"/>
          </a:solidFill>
          <a:ln/>
        </p:spPr>
      </p:sp>
      <p:sp>
        <p:nvSpPr>
          <p:cNvPr id="7" name="Text 5"/>
          <p:cNvSpPr/>
          <p:nvPr/>
        </p:nvSpPr>
        <p:spPr>
          <a:xfrm>
            <a:off x="640080" y="1426464"/>
            <a:ext cx="1627632" cy="320040"/>
          </a:xfrm>
          <a:prstGeom prst="rect">
            <a:avLst/>
          </a:prstGeom>
          <a:noFill/>
          <a:ln/>
        </p:spPr>
        <p:txBody>
          <a:bodyPr wrap="square" lIns="0" tIns="0" rIns="0" bIns="0" rtlCol="0" anchor="ctr"/>
          <a:lstStyle/>
          <a:p>
            <a:pPr indent="0" marL="0">
              <a:buNone/>
            </a:pPr>
            <a:r>
              <a:rPr lang="en-US" sz="1300" b="1" dirty="0">
                <a:solidFill>
                  <a:srgbClr val="16213E"/>
                </a:solidFill>
                <a:latin typeface="Georgia" pitchFamily="34" charset="0"/>
                <a:ea typeface="Georgia" pitchFamily="34" charset="-122"/>
                <a:cs typeface="Georgia" pitchFamily="34" charset="-120"/>
              </a:rPr>
              <a:t>Synthetic data</a:t>
            </a:r>
            <a:endParaRPr lang="en-US" sz="1300" dirty="0"/>
          </a:p>
        </p:txBody>
      </p:sp>
      <p:sp>
        <p:nvSpPr>
          <p:cNvPr id="8" name="Text 6"/>
          <p:cNvSpPr/>
          <p:nvPr/>
        </p:nvSpPr>
        <p:spPr>
          <a:xfrm>
            <a:off x="640080" y="1764792"/>
            <a:ext cx="1627632" cy="548640"/>
          </a:xfrm>
          <a:prstGeom prst="rect">
            <a:avLst/>
          </a:prstGeom>
          <a:noFill/>
          <a:ln/>
        </p:spPr>
        <p:txBody>
          <a:bodyPr wrap="square" lIns="0" tIns="0" rIns="0" bIns="0" rtlCol="0" anchor="ctr"/>
          <a:lstStyle/>
          <a:p>
            <a:pPr indent="0" marL="0">
              <a:buNone/>
            </a:pPr>
            <a:r>
              <a:rPr lang="en-US" sz="950" dirty="0">
                <a:solidFill>
                  <a:srgbClr val="51607A"/>
                </a:solidFill>
                <a:latin typeface="Calibri" pitchFamily="34" charset="0"/>
                <a:ea typeface="Calibri" pitchFamily="34" charset="-122"/>
                <a:cs typeface="Calibri" pitchFamily="34" charset="-120"/>
              </a:rPr>
              <a:t>Faker + pandas; labeled anomaly cohorts as ground truth</a:t>
            </a:r>
            <a:endParaRPr lang="en-US" sz="950" dirty="0"/>
          </a:p>
        </p:txBody>
      </p:sp>
      <p:sp>
        <p:nvSpPr>
          <p:cNvPr id="9" name="Text 7"/>
          <p:cNvSpPr/>
          <p:nvPr/>
        </p:nvSpPr>
        <p:spPr>
          <a:xfrm>
            <a:off x="2350008" y="1554480"/>
            <a:ext cx="274320" cy="548640"/>
          </a:xfrm>
          <a:prstGeom prst="rect">
            <a:avLst/>
          </a:prstGeom>
          <a:noFill/>
          <a:ln/>
        </p:spPr>
        <p:txBody>
          <a:bodyPr wrap="square" lIns="0" tIns="0" rIns="0" bIns="0" rtlCol="0" anchor="ctr"/>
          <a:lstStyle/>
          <a:p>
            <a:pPr algn="ctr" indent="0" marL="0">
              <a:buNone/>
            </a:pPr>
            <a:r>
              <a:rPr lang="en-US" sz="2000" b="1" dirty="0">
                <a:solidFill>
                  <a:srgbClr val="0B8F72"/>
                </a:solidFill>
                <a:latin typeface="Calibri" pitchFamily="34" charset="0"/>
                <a:ea typeface="Calibri" pitchFamily="34" charset="-122"/>
                <a:cs typeface="Calibri" pitchFamily="34" charset="-120"/>
              </a:rPr>
              <a:t>→</a:t>
            </a:r>
            <a:endParaRPr lang="en-US" sz="2000" dirty="0"/>
          </a:p>
        </p:txBody>
      </p:sp>
      <p:sp>
        <p:nvSpPr>
          <p:cNvPr id="10" name="Shape 8"/>
          <p:cNvSpPr/>
          <p:nvPr/>
        </p:nvSpPr>
        <p:spPr>
          <a:xfrm>
            <a:off x="2587752" y="1325880"/>
            <a:ext cx="1874520" cy="1051560"/>
          </a:xfrm>
          <a:prstGeom prst="rect">
            <a:avLst/>
          </a:prstGeom>
          <a:solidFill>
            <a:srgbClr val="F4F7FC"/>
          </a:solidFill>
          <a:ln/>
          <a:effectLst>
            <a:outerShdw sx="100000" sy="100000" kx="0" ky="0" algn="bl" rotWithShape="0" blurRad="63500" dist="25400" dir="8100000">
              <a:srgbClr val="9AA7BF">
                <a:alpha val="30000"/>
              </a:srgbClr>
            </a:outerShdw>
          </a:effectLst>
        </p:spPr>
      </p:sp>
      <p:sp>
        <p:nvSpPr>
          <p:cNvPr id="11" name="Shape 9"/>
          <p:cNvSpPr/>
          <p:nvPr/>
        </p:nvSpPr>
        <p:spPr>
          <a:xfrm>
            <a:off x="2587752" y="1325880"/>
            <a:ext cx="64008" cy="1051560"/>
          </a:xfrm>
          <a:prstGeom prst="rect">
            <a:avLst/>
          </a:prstGeom>
          <a:solidFill>
            <a:srgbClr val="16213E"/>
          </a:solidFill>
          <a:ln/>
        </p:spPr>
      </p:sp>
      <p:sp>
        <p:nvSpPr>
          <p:cNvPr id="12" name="Text 10"/>
          <p:cNvSpPr/>
          <p:nvPr/>
        </p:nvSpPr>
        <p:spPr>
          <a:xfrm>
            <a:off x="2724912" y="1426464"/>
            <a:ext cx="1627632" cy="320040"/>
          </a:xfrm>
          <a:prstGeom prst="rect">
            <a:avLst/>
          </a:prstGeom>
          <a:noFill/>
          <a:ln/>
        </p:spPr>
        <p:txBody>
          <a:bodyPr wrap="square" lIns="0" tIns="0" rIns="0" bIns="0" rtlCol="0" anchor="ctr"/>
          <a:lstStyle/>
          <a:p>
            <a:pPr indent="0" marL="0">
              <a:buNone/>
            </a:pPr>
            <a:r>
              <a:rPr lang="en-US" sz="1300" b="1" dirty="0">
                <a:solidFill>
                  <a:srgbClr val="16213E"/>
                </a:solidFill>
                <a:latin typeface="Georgia" pitchFamily="34" charset="0"/>
                <a:ea typeface="Georgia" pitchFamily="34" charset="-122"/>
                <a:cs typeface="Georgia" pitchFamily="34" charset="-120"/>
              </a:rPr>
              <a:t>BigQuery</a:t>
            </a:r>
            <a:endParaRPr lang="en-US" sz="1300" dirty="0"/>
          </a:p>
        </p:txBody>
      </p:sp>
      <p:sp>
        <p:nvSpPr>
          <p:cNvPr id="13" name="Text 11"/>
          <p:cNvSpPr/>
          <p:nvPr/>
        </p:nvSpPr>
        <p:spPr>
          <a:xfrm>
            <a:off x="2724912" y="1764792"/>
            <a:ext cx="1627632" cy="548640"/>
          </a:xfrm>
          <a:prstGeom prst="rect">
            <a:avLst/>
          </a:prstGeom>
          <a:noFill/>
          <a:ln/>
        </p:spPr>
        <p:txBody>
          <a:bodyPr wrap="square" lIns="0" tIns="0" rIns="0" bIns="0" rtlCol="0" anchor="ctr"/>
          <a:lstStyle/>
          <a:p>
            <a:pPr indent="0" marL="0">
              <a:buNone/>
            </a:pPr>
            <a:r>
              <a:rPr lang="en-US" sz="950" dirty="0">
                <a:solidFill>
                  <a:srgbClr val="51607A"/>
                </a:solidFill>
                <a:latin typeface="Calibri" pitchFamily="34" charset="0"/>
                <a:ea typeface="Calibri" pitchFamily="34" charset="-122"/>
                <a:cs typeface="Calibri" pitchFamily="34" charset="-120"/>
              </a:rPr>
              <a:t>System of record; all metrics query it</a:t>
            </a:r>
            <a:endParaRPr lang="en-US" sz="950" dirty="0"/>
          </a:p>
        </p:txBody>
      </p:sp>
      <p:sp>
        <p:nvSpPr>
          <p:cNvPr id="14" name="Text 12"/>
          <p:cNvSpPr/>
          <p:nvPr/>
        </p:nvSpPr>
        <p:spPr>
          <a:xfrm>
            <a:off x="4434840" y="1554480"/>
            <a:ext cx="274320" cy="548640"/>
          </a:xfrm>
          <a:prstGeom prst="rect">
            <a:avLst/>
          </a:prstGeom>
          <a:noFill/>
          <a:ln/>
        </p:spPr>
        <p:txBody>
          <a:bodyPr wrap="square" lIns="0" tIns="0" rIns="0" bIns="0" rtlCol="0" anchor="ctr"/>
          <a:lstStyle/>
          <a:p>
            <a:pPr algn="ctr" indent="0" marL="0">
              <a:buNone/>
            </a:pPr>
            <a:r>
              <a:rPr lang="en-US" sz="2000" b="1" dirty="0">
                <a:solidFill>
                  <a:srgbClr val="0B8F72"/>
                </a:solidFill>
                <a:latin typeface="Calibri" pitchFamily="34" charset="0"/>
                <a:ea typeface="Calibri" pitchFamily="34" charset="-122"/>
                <a:cs typeface="Calibri" pitchFamily="34" charset="-120"/>
              </a:rPr>
              <a:t>→</a:t>
            </a:r>
            <a:endParaRPr lang="en-US" sz="2000" dirty="0"/>
          </a:p>
        </p:txBody>
      </p:sp>
      <p:sp>
        <p:nvSpPr>
          <p:cNvPr id="15" name="Shape 13"/>
          <p:cNvSpPr/>
          <p:nvPr/>
        </p:nvSpPr>
        <p:spPr>
          <a:xfrm>
            <a:off x="4672584" y="1325880"/>
            <a:ext cx="1874520" cy="1051560"/>
          </a:xfrm>
          <a:prstGeom prst="rect">
            <a:avLst/>
          </a:prstGeom>
          <a:solidFill>
            <a:srgbClr val="F4F7FC"/>
          </a:solidFill>
          <a:ln/>
          <a:effectLst>
            <a:outerShdw sx="100000" sy="100000" kx="0" ky="0" algn="bl" rotWithShape="0" blurRad="63500" dist="25400" dir="8100000">
              <a:srgbClr val="9AA7BF">
                <a:alpha val="30000"/>
              </a:srgbClr>
            </a:outerShdw>
          </a:effectLst>
        </p:spPr>
      </p:sp>
      <p:sp>
        <p:nvSpPr>
          <p:cNvPr id="16" name="Shape 14"/>
          <p:cNvSpPr/>
          <p:nvPr/>
        </p:nvSpPr>
        <p:spPr>
          <a:xfrm>
            <a:off x="4672584" y="1325880"/>
            <a:ext cx="64008" cy="1051560"/>
          </a:xfrm>
          <a:prstGeom prst="rect">
            <a:avLst/>
          </a:prstGeom>
          <a:solidFill>
            <a:srgbClr val="16213E"/>
          </a:solidFill>
          <a:ln/>
        </p:spPr>
      </p:sp>
      <p:sp>
        <p:nvSpPr>
          <p:cNvPr id="17" name="Text 15"/>
          <p:cNvSpPr/>
          <p:nvPr/>
        </p:nvSpPr>
        <p:spPr>
          <a:xfrm>
            <a:off x="4809744" y="1426464"/>
            <a:ext cx="1627632" cy="320040"/>
          </a:xfrm>
          <a:prstGeom prst="rect">
            <a:avLst/>
          </a:prstGeom>
          <a:noFill/>
          <a:ln/>
        </p:spPr>
        <p:txBody>
          <a:bodyPr wrap="square" lIns="0" tIns="0" rIns="0" bIns="0" rtlCol="0" anchor="ctr"/>
          <a:lstStyle/>
          <a:p>
            <a:pPr indent="0" marL="0">
              <a:buNone/>
            </a:pPr>
            <a:r>
              <a:rPr lang="en-US" sz="1300" b="1" dirty="0">
                <a:solidFill>
                  <a:srgbClr val="16213E"/>
                </a:solidFill>
                <a:latin typeface="Georgia" pitchFamily="34" charset="0"/>
                <a:ea typeface="Georgia" pitchFamily="34" charset="-122"/>
                <a:cs typeface="Georgia" pitchFamily="34" charset="-120"/>
              </a:rPr>
              <a:t>Layered SQL</a:t>
            </a:r>
            <a:endParaRPr lang="en-US" sz="1300" dirty="0"/>
          </a:p>
        </p:txBody>
      </p:sp>
      <p:sp>
        <p:nvSpPr>
          <p:cNvPr id="18" name="Text 16"/>
          <p:cNvSpPr/>
          <p:nvPr/>
        </p:nvSpPr>
        <p:spPr>
          <a:xfrm>
            <a:off x="4809744" y="1764792"/>
            <a:ext cx="1627632" cy="548640"/>
          </a:xfrm>
          <a:prstGeom prst="rect">
            <a:avLst/>
          </a:prstGeom>
          <a:noFill/>
          <a:ln/>
        </p:spPr>
        <p:txBody>
          <a:bodyPr wrap="square" lIns="0" tIns="0" rIns="0" bIns="0" rtlCol="0" anchor="ctr"/>
          <a:lstStyle/>
          <a:p>
            <a:pPr indent="0" marL="0">
              <a:buNone/>
            </a:pPr>
            <a:r>
              <a:rPr lang="en-US" sz="950" dirty="0">
                <a:solidFill>
                  <a:srgbClr val="51607A"/>
                </a:solidFill>
                <a:latin typeface="Calibri" pitchFamily="34" charset="0"/>
                <a:ea typeface="Calibri" pitchFamily="34" charset="-122"/>
                <a:cs typeface="Calibri" pitchFamily="34" charset="-120"/>
              </a:rPr>
              <a:t>staging -&gt; intermediate -&gt; marts (dbt-style, no dbt)</a:t>
            </a:r>
            <a:endParaRPr lang="en-US" sz="950" dirty="0"/>
          </a:p>
        </p:txBody>
      </p:sp>
      <p:sp>
        <p:nvSpPr>
          <p:cNvPr id="19" name="Text 17"/>
          <p:cNvSpPr/>
          <p:nvPr/>
        </p:nvSpPr>
        <p:spPr>
          <a:xfrm>
            <a:off x="6519672" y="1554480"/>
            <a:ext cx="274320" cy="548640"/>
          </a:xfrm>
          <a:prstGeom prst="rect">
            <a:avLst/>
          </a:prstGeom>
          <a:noFill/>
          <a:ln/>
        </p:spPr>
        <p:txBody>
          <a:bodyPr wrap="square" lIns="0" tIns="0" rIns="0" bIns="0" rtlCol="0" anchor="ctr"/>
          <a:lstStyle/>
          <a:p>
            <a:pPr algn="ctr" indent="0" marL="0">
              <a:buNone/>
            </a:pPr>
            <a:r>
              <a:rPr lang="en-US" sz="2000" b="1" dirty="0">
                <a:solidFill>
                  <a:srgbClr val="0B8F72"/>
                </a:solidFill>
                <a:latin typeface="Calibri" pitchFamily="34" charset="0"/>
                <a:ea typeface="Calibri" pitchFamily="34" charset="-122"/>
                <a:cs typeface="Calibri" pitchFamily="34" charset="-120"/>
              </a:rPr>
              <a:t>→</a:t>
            </a:r>
            <a:endParaRPr lang="en-US" sz="2000" dirty="0"/>
          </a:p>
        </p:txBody>
      </p:sp>
      <p:sp>
        <p:nvSpPr>
          <p:cNvPr id="20" name="Shape 18"/>
          <p:cNvSpPr/>
          <p:nvPr/>
        </p:nvSpPr>
        <p:spPr>
          <a:xfrm>
            <a:off x="6757416" y="1325880"/>
            <a:ext cx="1874520" cy="1051560"/>
          </a:xfrm>
          <a:prstGeom prst="rect">
            <a:avLst/>
          </a:prstGeom>
          <a:solidFill>
            <a:srgbClr val="F4F7FC"/>
          </a:solidFill>
          <a:ln/>
          <a:effectLst>
            <a:outerShdw sx="100000" sy="100000" kx="0" ky="0" algn="bl" rotWithShape="0" blurRad="63500" dist="25400" dir="8100000">
              <a:srgbClr val="9AA7BF">
                <a:alpha val="30000"/>
              </a:srgbClr>
            </a:outerShdw>
          </a:effectLst>
        </p:spPr>
      </p:sp>
      <p:sp>
        <p:nvSpPr>
          <p:cNvPr id="21" name="Shape 19"/>
          <p:cNvSpPr/>
          <p:nvPr/>
        </p:nvSpPr>
        <p:spPr>
          <a:xfrm>
            <a:off x="6757416" y="1325880"/>
            <a:ext cx="64008" cy="1051560"/>
          </a:xfrm>
          <a:prstGeom prst="rect">
            <a:avLst/>
          </a:prstGeom>
          <a:solidFill>
            <a:srgbClr val="16213E"/>
          </a:solidFill>
          <a:ln/>
        </p:spPr>
      </p:sp>
      <p:sp>
        <p:nvSpPr>
          <p:cNvPr id="22" name="Text 20"/>
          <p:cNvSpPr/>
          <p:nvPr/>
        </p:nvSpPr>
        <p:spPr>
          <a:xfrm>
            <a:off x="6894576" y="1426464"/>
            <a:ext cx="1627632" cy="320040"/>
          </a:xfrm>
          <a:prstGeom prst="rect">
            <a:avLst/>
          </a:prstGeom>
          <a:noFill/>
          <a:ln/>
        </p:spPr>
        <p:txBody>
          <a:bodyPr wrap="square" lIns="0" tIns="0" rIns="0" bIns="0" rtlCol="0" anchor="ctr"/>
          <a:lstStyle/>
          <a:p>
            <a:pPr indent="0" marL="0">
              <a:buNone/>
            </a:pPr>
            <a:r>
              <a:rPr lang="en-US" sz="1300" b="1" dirty="0">
                <a:solidFill>
                  <a:srgbClr val="16213E"/>
                </a:solidFill>
                <a:latin typeface="Georgia" pitchFamily="34" charset="0"/>
                <a:ea typeface="Georgia" pitchFamily="34" charset="-122"/>
                <a:cs typeface="Georgia" pitchFamily="34" charset="-120"/>
              </a:rPr>
              <a:t>Streamlit</a:t>
            </a:r>
            <a:endParaRPr lang="en-US" sz="1300" dirty="0"/>
          </a:p>
        </p:txBody>
      </p:sp>
      <p:sp>
        <p:nvSpPr>
          <p:cNvPr id="23" name="Text 21"/>
          <p:cNvSpPr/>
          <p:nvPr/>
        </p:nvSpPr>
        <p:spPr>
          <a:xfrm>
            <a:off x="6894576" y="1764792"/>
            <a:ext cx="1627632" cy="548640"/>
          </a:xfrm>
          <a:prstGeom prst="rect">
            <a:avLst/>
          </a:prstGeom>
          <a:noFill/>
          <a:ln/>
        </p:spPr>
        <p:txBody>
          <a:bodyPr wrap="square" lIns="0" tIns="0" rIns="0" bIns="0" rtlCol="0" anchor="ctr"/>
          <a:lstStyle/>
          <a:p>
            <a:pPr indent="0" marL="0">
              <a:buNone/>
            </a:pPr>
            <a:r>
              <a:rPr lang="en-US" sz="950" dirty="0">
                <a:solidFill>
                  <a:srgbClr val="51607A"/>
                </a:solidFill>
                <a:latin typeface="Calibri" pitchFamily="34" charset="0"/>
                <a:ea typeface="Calibri" pitchFamily="34" charset="-122"/>
                <a:cs typeface="Calibri" pitchFamily="34" charset="-120"/>
              </a:rPr>
              <a:t>Exec dashboard; CSV snapshot fallback</a:t>
            </a:r>
            <a:endParaRPr lang="en-US" sz="950" dirty="0"/>
          </a:p>
        </p:txBody>
      </p:sp>
      <p:sp>
        <p:nvSpPr>
          <p:cNvPr id="24" name="Shape 22"/>
          <p:cNvSpPr/>
          <p:nvPr/>
        </p:nvSpPr>
        <p:spPr>
          <a:xfrm>
            <a:off x="502920" y="2606040"/>
            <a:ext cx="8138160" cy="621792"/>
          </a:xfrm>
          <a:prstGeom prst="rect">
            <a:avLst/>
          </a:prstGeom>
          <a:solidFill>
            <a:srgbClr val="F4F7FC"/>
          </a:solidFill>
          <a:ln/>
          <a:effectLst>
            <a:outerShdw sx="100000" sy="100000" kx="0" ky="0" algn="bl" rotWithShape="0" blurRad="63500" dist="25400" dir="8100000">
              <a:srgbClr val="9AA7BF">
                <a:alpha val="30000"/>
              </a:srgbClr>
            </a:outerShdw>
          </a:effectLst>
        </p:spPr>
      </p:sp>
      <p:sp>
        <p:nvSpPr>
          <p:cNvPr id="25" name="Shape 23"/>
          <p:cNvSpPr/>
          <p:nvPr/>
        </p:nvSpPr>
        <p:spPr>
          <a:xfrm>
            <a:off x="502920" y="2606040"/>
            <a:ext cx="64008" cy="621792"/>
          </a:xfrm>
          <a:prstGeom prst="rect">
            <a:avLst/>
          </a:prstGeom>
          <a:solidFill>
            <a:srgbClr val="0B8F72"/>
          </a:solidFill>
          <a:ln/>
        </p:spPr>
      </p:sp>
      <p:sp>
        <p:nvSpPr>
          <p:cNvPr id="26" name="Text 24"/>
          <p:cNvSpPr/>
          <p:nvPr/>
        </p:nvSpPr>
        <p:spPr>
          <a:xfrm>
            <a:off x="685800" y="2651760"/>
            <a:ext cx="2286000" cy="530352"/>
          </a:xfrm>
          <a:prstGeom prst="rect">
            <a:avLst/>
          </a:prstGeom>
          <a:noFill/>
          <a:ln/>
        </p:spPr>
        <p:txBody>
          <a:bodyPr wrap="square" lIns="0" tIns="0" rIns="0" bIns="0" rtlCol="0" anchor="ctr"/>
          <a:lstStyle/>
          <a:p>
            <a:pPr indent="0" marL="0">
              <a:buNone/>
            </a:pPr>
            <a:r>
              <a:rPr lang="en-US" sz="1250" b="1" dirty="0">
                <a:solidFill>
                  <a:srgbClr val="16213E"/>
                </a:solidFill>
                <a:latin typeface="Calibri" pitchFamily="34" charset="0"/>
                <a:ea typeface="Calibri" pitchFamily="34" charset="-122"/>
                <a:cs typeface="Calibri" pitchFamily="34" charset="-120"/>
              </a:rPr>
              <a:t>Build vs Buy</a:t>
            </a:r>
            <a:endParaRPr lang="en-US" sz="1250" dirty="0"/>
          </a:p>
        </p:txBody>
      </p:sp>
      <p:sp>
        <p:nvSpPr>
          <p:cNvPr id="27" name="Text 25"/>
          <p:cNvSpPr/>
          <p:nvPr/>
        </p:nvSpPr>
        <p:spPr>
          <a:xfrm>
            <a:off x="3063240" y="2651760"/>
            <a:ext cx="5394960" cy="530352"/>
          </a:xfrm>
          <a:prstGeom prst="rect">
            <a:avLst/>
          </a:prstGeom>
          <a:noFill/>
          <a:ln/>
        </p:spPr>
        <p:txBody>
          <a:bodyPr wrap="square" lIns="0" tIns="0" rIns="0" bIns="0" rtlCol="0" anchor="ctr"/>
          <a:lstStyle/>
          <a:p>
            <a:pPr indent="0" marL="0">
              <a:buNone/>
            </a:pPr>
            <a:r>
              <a:rPr lang="en-US" sz="1100" dirty="0">
                <a:solidFill>
                  <a:srgbClr val="1B2540"/>
                </a:solidFill>
                <a:latin typeface="Calibri" pitchFamily="34" charset="0"/>
                <a:ea typeface="Calibri" pitchFamily="34" charset="-122"/>
                <a:cs typeface="Calibri" pitchFamily="34" charset="-120"/>
              </a:rPr>
              <a:t>Buy the warehouse (BigQuery); build the transforms as plain layered SQL - dbt's discipline without its dependency for a prototype</a:t>
            </a:r>
            <a:endParaRPr lang="en-US" sz="1100" dirty="0"/>
          </a:p>
        </p:txBody>
      </p:sp>
      <p:sp>
        <p:nvSpPr>
          <p:cNvPr id="28" name="Shape 26"/>
          <p:cNvSpPr/>
          <p:nvPr/>
        </p:nvSpPr>
        <p:spPr>
          <a:xfrm>
            <a:off x="502920" y="3355848"/>
            <a:ext cx="8138160" cy="621792"/>
          </a:xfrm>
          <a:prstGeom prst="rect">
            <a:avLst/>
          </a:prstGeom>
          <a:solidFill>
            <a:srgbClr val="F4F7FC"/>
          </a:solidFill>
          <a:ln/>
          <a:effectLst>
            <a:outerShdw sx="100000" sy="100000" kx="0" ky="0" algn="bl" rotWithShape="0" blurRad="63500" dist="25400" dir="8100000">
              <a:srgbClr val="9AA7BF">
                <a:alpha val="30000"/>
              </a:srgbClr>
            </a:outerShdw>
          </a:effectLst>
        </p:spPr>
      </p:sp>
      <p:sp>
        <p:nvSpPr>
          <p:cNvPr id="29" name="Shape 27"/>
          <p:cNvSpPr/>
          <p:nvPr/>
        </p:nvSpPr>
        <p:spPr>
          <a:xfrm>
            <a:off x="502920" y="3355848"/>
            <a:ext cx="64008" cy="621792"/>
          </a:xfrm>
          <a:prstGeom prst="rect">
            <a:avLst/>
          </a:prstGeom>
          <a:solidFill>
            <a:srgbClr val="F9A825"/>
          </a:solidFill>
          <a:ln/>
        </p:spPr>
      </p:sp>
      <p:sp>
        <p:nvSpPr>
          <p:cNvPr id="30" name="Text 28"/>
          <p:cNvSpPr/>
          <p:nvPr/>
        </p:nvSpPr>
        <p:spPr>
          <a:xfrm>
            <a:off x="685800" y="3401568"/>
            <a:ext cx="2286000" cy="530352"/>
          </a:xfrm>
          <a:prstGeom prst="rect">
            <a:avLst/>
          </a:prstGeom>
          <a:noFill/>
          <a:ln/>
        </p:spPr>
        <p:txBody>
          <a:bodyPr wrap="square" lIns="0" tIns="0" rIns="0" bIns="0" rtlCol="0" anchor="ctr"/>
          <a:lstStyle/>
          <a:p>
            <a:pPr indent="0" marL="0">
              <a:buNone/>
            </a:pPr>
            <a:r>
              <a:rPr lang="en-US" sz="1250" b="1" dirty="0">
                <a:solidFill>
                  <a:srgbClr val="16213E"/>
                </a:solidFill>
                <a:latin typeface="Calibri" pitchFamily="34" charset="0"/>
                <a:ea typeface="Calibri" pitchFamily="34" charset="-122"/>
                <a:cs typeface="Calibri" pitchFamily="34" charset="-120"/>
              </a:rPr>
              <a:t>Latency vs Accuracy</a:t>
            </a:r>
            <a:endParaRPr lang="en-US" sz="1250" dirty="0"/>
          </a:p>
        </p:txBody>
      </p:sp>
      <p:sp>
        <p:nvSpPr>
          <p:cNvPr id="31" name="Text 29"/>
          <p:cNvSpPr/>
          <p:nvPr/>
        </p:nvSpPr>
        <p:spPr>
          <a:xfrm>
            <a:off x="3063240" y="3401568"/>
            <a:ext cx="5394960" cy="530352"/>
          </a:xfrm>
          <a:prstGeom prst="rect">
            <a:avLst/>
          </a:prstGeom>
          <a:noFill/>
          <a:ln/>
        </p:spPr>
        <p:txBody>
          <a:bodyPr wrap="square" lIns="0" tIns="0" rIns="0" bIns="0" rtlCol="0" anchor="ctr"/>
          <a:lstStyle/>
          <a:p>
            <a:pPr indent="0" marL="0">
              <a:buNone/>
            </a:pPr>
            <a:r>
              <a:rPr lang="en-US" sz="1100" dirty="0">
                <a:solidFill>
                  <a:srgbClr val="1B2540"/>
                </a:solidFill>
                <a:latin typeface="Calibri" pitchFamily="34" charset="0"/>
                <a:ea typeface="Calibri" pitchFamily="34" charset="-122"/>
                <a:cs typeface="Calibri" pitchFamily="34" charset="-120"/>
              </a:rPr>
              <a:t>Monthly batch grain - entitlements are monthly and QBR/renewal decisions are monthly; streaming buys nothing here</a:t>
            </a:r>
            <a:endParaRPr lang="en-US" sz="1100" dirty="0"/>
          </a:p>
        </p:txBody>
      </p:sp>
      <p:sp>
        <p:nvSpPr>
          <p:cNvPr id="32" name="Shape 30"/>
          <p:cNvSpPr/>
          <p:nvPr/>
        </p:nvSpPr>
        <p:spPr>
          <a:xfrm>
            <a:off x="502920" y="4105656"/>
            <a:ext cx="8138160" cy="621792"/>
          </a:xfrm>
          <a:prstGeom prst="rect">
            <a:avLst/>
          </a:prstGeom>
          <a:solidFill>
            <a:srgbClr val="F4F7FC"/>
          </a:solidFill>
          <a:ln/>
          <a:effectLst>
            <a:outerShdw sx="100000" sy="100000" kx="0" ky="0" algn="bl" rotWithShape="0" blurRad="63500" dist="25400" dir="8100000">
              <a:srgbClr val="9AA7BF">
                <a:alpha val="30000"/>
              </a:srgbClr>
            </a:outerShdw>
          </a:effectLst>
        </p:spPr>
      </p:sp>
      <p:sp>
        <p:nvSpPr>
          <p:cNvPr id="33" name="Shape 31"/>
          <p:cNvSpPr/>
          <p:nvPr/>
        </p:nvSpPr>
        <p:spPr>
          <a:xfrm>
            <a:off x="502920" y="4105656"/>
            <a:ext cx="64008" cy="621792"/>
          </a:xfrm>
          <a:prstGeom prst="rect">
            <a:avLst/>
          </a:prstGeom>
          <a:solidFill>
            <a:srgbClr val="16213E"/>
          </a:solidFill>
          <a:ln/>
        </p:spPr>
      </p:sp>
      <p:sp>
        <p:nvSpPr>
          <p:cNvPr id="34" name="Text 32"/>
          <p:cNvSpPr/>
          <p:nvPr/>
        </p:nvSpPr>
        <p:spPr>
          <a:xfrm>
            <a:off x="685800" y="4151376"/>
            <a:ext cx="2286000" cy="530352"/>
          </a:xfrm>
          <a:prstGeom prst="rect">
            <a:avLst/>
          </a:prstGeom>
          <a:noFill/>
          <a:ln/>
        </p:spPr>
        <p:txBody>
          <a:bodyPr wrap="square" lIns="0" tIns="0" rIns="0" bIns="0" rtlCol="0" anchor="ctr"/>
          <a:lstStyle/>
          <a:p>
            <a:pPr indent="0" marL="0">
              <a:buNone/>
            </a:pPr>
            <a:r>
              <a:rPr lang="en-US" sz="1250" b="1" dirty="0">
                <a:solidFill>
                  <a:srgbClr val="16213E"/>
                </a:solidFill>
                <a:latin typeface="Calibri" pitchFamily="34" charset="0"/>
                <a:ea typeface="Calibri" pitchFamily="34" charset="-122"/>
                <a:cs typeface="Calibri" pitchFamily="34" charset="-120"/>
              </a:rPr>
              <a:t>The hard part solved in SQL</a:t>
            </a:r>
            <a:endParaRPr lang="en-US" sz="1250" dirty="0"/>
          </a:p>
        </p:txBody>
      </p:sp>
      <p:sp>
        <p:nvSpPr>
          <p:cNvPr id="35" name="Text 33"/>
          <p:cNvSpPr/>
          <p:nvPr/>
        </p:nvSpPr>
        <p:spPr>
          <a:xfrm>
            <a:off x="3063240" y="4151376"/>
            <a:ext cx="5394960" cy="530352"/>
          </a:xfrm>
          <a:prstGeom prst="rect">
            <a:avLst/>
          </a:prstGeom>
          <a:noFill/>
          <a:ln/>
        </p:spPr>
        <p:txBody>
          <a:bodyPr wrap="square" lIns="0" tIns="0" rIns="0" bIns="0" rtlCol="0" anchor="ctr"/>
          <a:lstStyle/>
          <a:p>
            <a:pPr indent="0" marL="0">
              <a:buNone/>
            </a:pPr>
            <a:r>
              <a:rPr lang="en-US" sz="1100" dirty="0">
                <a:solidFill>
                  <a:srgbClr val="1B2540"/>
                </a:solidFill>
                <a:latin typeface="Calibri" pitchFamily="34" charset="0"/>
                <a:ea typeface="Calibri" pitchFamily="34" charset="-122"/>
                <a:cs typeface="Calibri" pitchFamily="34" charset="-120"/>
              </a:rPr>
              <a:t>Mid-year expansions summed per month via a date-range join - overlapping contracts raise the denominator, no double-counting</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6213E"/>
          </a:solidFill>
          <a:ln/>
        </p:spPr>
      </p:sp>
      <p:sp>
        <p:nvSpPr>
          <p:cNvPr id="3" name="Text 1"/>
          <p:cNvSpPr/>
          <p:nvPr/>
        </p:nvSpPr>
        <p:spPr>
          <a:xfrm>
            <a:off x="502920" y="256032"/>
            <a:ext cx="8138160" cy="274320"/>
          </a:xfrm>
          <a:prstGeom prst="rect">
            <a:avLst/>
          </a:prstGeom>
          <a:noFill/>
          <a:ln/>
        </p:spPr>
        <p:txBody>
          <a:bodyPr wrap="square" lIns="0" tIns="0" rIns="0" bIns="0" rtlCol="0" anchor="ctr"/>
          <a:lstStyle/>
          <a:p>
            <a:pPr indent="0" marL="0">
              <a:buNone/>
            </a:pPr>
            <a:r>
              <a:rPr lang="en-US" sz="1100" b="1" spc="300" kern="0" dirty="0">
                <a:solidFill>
                  <a:srgbClr val="0B8F72"/>
                </a:solidFill>
                <a:latin typeface="Calibri" pitchFamily="34" charset="0"/>
                <a:ea typeface="Calibri" pitchFamily="34" charset="-122"/>
                <a:cs typeface="Calibri" pitchFamily="34" charset="-120"/>
              </a:rPr>
              <a:t>TECHNICAL DEEP DIVE · REAL-WORLD DATA</a:t>
            </a:r>
            <a:endParaRPr lang="en-US" sz="1100" dirty="0"/>
          </a:p>
        </p:txBody>
      </p:sp>
      <p:sp>
        <p:nvSpPr>
          <p:cNvPr id="4" name="Text 2"/>
          <p:cNvSpPr/>
          <p:nvPr/>
        </p:nvSpPr>
        <p:spPr>
          <a:xfrm>
            <a:off x="502920" y="475488"/>
            <a:ext cx="8138160" cy="685800"/>
          </a:xfrm>
          <a:prstGeom prst="rect">
            <a:avLst/>
          </a:prstGeom>
          <a:noFill/>
          <a:ln/>
        </p:spPr>
        <p:txBody>
          <a:bodyPr wrap="square" lIns="0" tIns="0" rIns="0" bIns="0" rtlCol="0" anchor="t"/>
          <a:lstStyle/>
          <a:p>
            <a:pPr indent="0" marL="0">
              <a:buNone/>
            </a:pPr>
            <a:r>
              <a:rPr lang="en-US" sz="2900" b="1" dirty="0">
                <a:solidFill>
                  <a:srgbClr val="16213E"/>
                </a:solidFill>
                <a:latin typeface="Georgia" pitchFamily="34" charset="0"/>
                <a:ea typeface="Georgia" pitchFamily="34" charset="-122"/>
                <a:cs typeface="Georgia" pitchFamily="34" charset="-120"/>
              </a:rPr>
              <a:t>Designed for messy enterprise data</a:t>
            </a:r>
            <a:endParaRPr lang="en-US" sz="2900" dirty="0"/>
          </a:p>
        </p:txBody>
      </p:sp>
      <p:sp>
        <p:nvSpPr>
          <p:cNvPr id="5" name="Shape 3"/>
          <p:cNvSpPr/>
          <p:nvPr/>
        </p:nvSpPr>
        <p:spPr>
          <a:xfrm>
            <a:off x="502920" y="1371600"/>
            <a:ext cx="8138160" cy="566928"/>
          </a:xfrm>
          <a:prstGeom prst="rect">
            <a:avLst/>
          </a:prstGeom>
          <a:solidFill>
            <a:srgbClr val="F4F7FC"/>
          </a:solidFill>
          <a:ln/>
          <a:effectLst>
            <a:outerShdw sx="100000" sy="100000" kx="0" ky="0" algn="bl" rotWithShape="0" blurRad="63500" dist="25400" dir="8100000">
              <a:srgbClr val="9AA7BF">
                <a:alpha val="30000"/>
              </a:srgbClr>
            </a:outerShdw>
          </a:effectLst>
        </p:spPr>
      </p:sp>
      <p:sp>
        <p:nvSpPr>
          <p:cNvPr id="6" name="Shape 4"/>
          <p:cNvSpPr/>
          <p:nvPr/>
        </p:nvSpPr>
        <p:spPr>
          <a:xfrm>
            <a:off x="502920" y="1371600"/>
            <a:ext cx="64008" cy="566928"/>
          </a:xfrm>
          <a:prstGeom prst="rect">
            <a:avLst/>
          </a:prstGeom>
          <a:solidFill>
            <a:srgbClr val="F9A825"/>
          </a:solidFill>
          <a:ln/>
        </p:spPr>
      </p:sp>
      <p:sp>
        <p:nvSpPr>
          <p:cNvPr id="7" name="Text 5"/>
          <p:cNvSpPr/>
          <p:nvPr/>
        </p:nvSpPr>
        <p:spPr>
          <a:xfrm>
            <a:off x="685800" y="1408176"/>
            <a:ext cx="1828800" cy="493776"/>
          </a:xfrm>
          <a:prstGeom prst="rect">
            <a:avLst/>
          </a:prstGeom>
          <a:noFill/>
          <a:ln/>
        </p:spPr>
        <p:txBody>
          <a:bodyPr wrap="square" lIns="0" tIns="0" rIns="0" bIns="0" rtlCol="0" anchor="ctr"/>
          <a:lstStyle/>
          <a:p>
            <a:pPr indent="0" marL="0">
              <a:buNone/>
            </a:pPr>
            <a:r>
              <a:rPr lang="en-US" sz="1300" b="1" dirty="0">
                <a:solidFill>
                  <a:srgbClr val="16213E"/>
                </a:solidFill>
                <a:latin typeface="Calibri" pitchFamily="34" charset="0"/>
                <a:ea typeface="Calibri" pitchFamily="34" charset="-122"/>
                <a:cs typeface="Calibri" pitchFamily="34" charset="-120"/>
              </a:rPr>
              <a:t>Spike &amp; drop</a:t>
            </a:r>
            <a:endParaRPr lang="en-US" sz="1300" dirty="0"/>
          </a:p>
        </p:txBody>
      </p:sp>
      <p:sp>
        <p:nvSpPr>
          <p:cNvPr id="8" name="Text 6"/>
          <p:cNvSpPr/>
          <p:nvPr/>
        </p:nvSpPr>
        <p:spPr>
          <a:xfrm>
            <a:off x="2606040" y="1408176"/>
            <a:ext cx="5852160" cy="493776"/>
          </a:xfrm>
          <a:prstGeom prst="rect">
            <a:avLst/>
          </a:prstGeom>
          <a:noFill/>
          <a:ln/>
        </p:spPr>
        <p:txBody>
          <a:bodyPr wrap="square" lIns="0" tIns="0" rIns="0" bIns="0" rtlCol="0" anchor="ctr"/>
          <a:lstStyle/>
          <a:p>
            <a:pPr indent="0" marL="0">
              <a:buNone/>
            </a:pPr>
            <a:r>
              <a:rPr lang="en-US" sz="1100" dirty="0">
                <a:solidFill>
                  <a:srgbClr val="1B2540"/>
                </a:solidFill>
                <a:latin typeface="Calibri" pitchFamily="34" charset="0"/>
                <a:ea typeface="Calibri" pitchFamily="34" charset="-122"/>
                <a:cs typeface="Calibri" pitchFamily="34" charset="-120"/>
              </a:rPr>
              <a:t>Consistency compares this month to the trailing 3-month peak - a cliff to zero collapses the score within a month</a:t>
            </a:r>
            <a:endParaRPr lang="en-US" sz="1100" dirty="0"/>
          </a:p>
        </p:txBody>
      </p:sp>
      <p:sp>
        <p:nvSpPr>
          <p:cNvPr id="9" name="Shape 7"/>
          <p:cNvSpPr/>
          <p:nvPr/>
        </p:nvSpPr>
        <p:spPr>
          <a:xfrm>
            <a:off x="502920" y="2057400"/>
            <a:ext cx="8138160" cy="566928"/>
          </a:xfrm>
          <a:prstGeom prst="rect">
            <a:avLst/>
          </a:prstGeom>
          <a:solidFill>
            <a:srgbClr val="F4F7FC"/>
          </a:solidFill>
          <a:ln/>
          <a:effectLst>
            <a:outerShdw sx="100000" sy="100000" kx="0" ky="0" algn="bl" rotWithShape="0" blurRad="63500" dist="25400" dir="8100000">
              <a:srgbClr val="9AA7BF">
                <a:alpha val="30000"/>
              </a:srgbClr>
            </a:outerShdw>
          </a:effectLst>
        </p:spPr>
      </p:sp>
      <p:sp>
        <p:nvSpPr>
          <p:cNvPr id="10" name="Shape 8"/>
          <p:cNvSpPr/>
          <p:nvPr/>
        </p:nvSpPr>
        <p:spPr>
          <a:xfrm>
            <a:off x="502920" y="2057400"/>
            <a:ext cx="64008" cy="566928"/>
          </a:xfrm>
          <a:prstGeom prst="rect">
            <a:avLst/>
          </a:prstGeom>
          <a:solidFill>
            <a:srgbClr val="E4572E"/>
          </a:solidFill>
          <a:ln/>
        </p:spPr>
      </p:sp>
      <p:sp>
        <p:nvSpPr>
          <p:cNvPr id="11" name="Text 9"/>
          <p:cNvSpPr/>
          <p:nvPr/>
        </p:nvSpPr>
        <p:spPr>
          <a:xfrm>
            <a:off x="685800" y="2093976"/>
            <a:ext cx="1828800" cy="493776"/>
          </a:xfrm>
          <a:prstGeom prst="rect">
            <a:avLst/>
          </a:prstGeom>
          <a:noFill/>
          <a:ln/>
        </p:spPr>
        <p:txBody>
          <a:bodyPr wrap="square" lIns="0" tIns="0" rIns="0" bIns="0" rtlCol="0" anchor="ctr"/>
          <a:lstStyle/>
          <a:p>
            <a:pPr indent="0" marL="0">
              <a:buNone/>
            </a:pPr>
            <a:r>
              <a:rPr lang="en-US" sz="1300" b="1" dirty="0">
                <a:solidFill>
                  <a:srgbClr val="16213E"/>
                </a:solidFill>
                <a:latin typeface="Calibri" pitchFamily="34" charset="0"/>
                <a:ea typeface="Calibri" pitchFamily="34" charset="-122"/>
                <a:cs typeface="Calibri" pitchFamily="34" charset="-120"/>
              </a:rPr>
              <a:t>Shelfware</a:t>
            </a:r>
            <a:endParaRPr lang="en-US" sz="1300" dirty="0"/>
          </a:p>
        </p:txBody>
      </p:sp>
      <p:sp>
        <p:nvSpPr>
          <p:cNvPr id="12" name="Text 10"/>
          <p:cNvSpPr/>
          <p:nvPr/>
        </p:nvSpPr>
        <p:spPr>
          <a:xfrm>
            <a:off x="2606040" y="2093976"/>
            <a:ext cx="5852160" cy="493776"/>
          </a:xfrm>
          <a:prstGeom prst="rect">
            <a:avLst/>
          </a:prstGeom>
          <a:noFill/>
          <a:ln/>
        </p:spPr>
        <p:txBody>
          <a:bodyPr wrap="square" lIns="0" tIns="0" rIns="0" bIns="0" rtlCol="0" anchor="ctr"/>
          <a:lstStyle/>
          <a:p>
            <a:pPr indent="0" marL="0">
              <a:buNone/>
            </a:pPr>
            <a:r>
              <a:rPr lang="en-US" sz="1100" dirty="0">
                <a:solidFill>
                  <a:srgbClr val="1B2540"/>
                </a:solidFill>
                <a:latin typeface="Calibri" pitchFamily="34" charset="0"/>
                <a:ea typeface="Calibri" pitchFamily="34" charset="-122"/>
                <a:cs typeface="Calibri" pitchFamily="34" charset="-120"/>
              </a:rPr>
              <a:t>Reporting is built from entitlements, not usage - zero-consumption accounts can never silently vanish</a:t>
            </a:r>
            <a:endParaRPr lang="en-US" sz="1100" dirty="0"/>
          </a:p>
        </p:txBody>
      </p:sp>
      <p:sp>
        <p:nvSpPr>
          <p:cNvPr id="13" name="Shape 11"/>
          <p:cNvSpPr/>
          <p:nvPr/>
        </p:nvSpPr>
        <p:spPr>
          <a:xfrm>
            <a:off x="502920" y="2743200"/>
            <a:ext cx="8138160" cy="566928"/>
          </a:xfrm>
          <a:prstGeom prst="rect">
            <a:avLst/>
          </a:prstGeom>
          <a:solidFill>
            <a:srgbClr val="F4F7FC"/>
          </a:solidFill>
          <a:ln/>
          <a:effectLst>
            <a:outerShdw sx="100000" sy="100000" kx="0" ky="0" algn="bl" rotWithShape="0" blurRad="63500" dist="25400" dir="8100000">
              <a:srgbClr val="9AA7BF">
                <a:alpha val="30000"/>
              </a:srgbClr>
            </a:outerShdw>
          </a:effectLst>
        </p:spPr>
      </p:sp>
      <p:sp>
        <p:nvSpPr>
          <p:cNvPr id="14" name="Shape 12"/>
          <p:cNvSpPr/>
          <p:nvPr/>
        </p:nvSpPr>
        <p:spPr>
          <a:xfrm>
            <a:off x="502920" y="2743200"/>
            <a:ext cx="64008" cy="566928"/>
          </a:xfrm>
          <a:prstGeom prst="rect">
            <a:avLst/>
          </a:prstGeom>
          <a:solidFill>
            <a:srgbClr val="0B8F72"/>
          </a:solidFill>
          <a:ln/>
        </p:spPr>
      </p:sp>
      <p:sp>
        <p:nvSpPr>
          <p:cNvPr id="15" name="Text 13"/>
          <p:cNvSpPr/>
          <p:nvPr/>
        </p:nvSpPr>
        <p:spPr>
          <a:xfrm>
            <a:off x="685800" y="2779776"/>
            <a:ext cx="1828800" cy="493776"/>
          </a:xfrm>
          <a:prstGeom prst="rect">
            <a:avLst/>
          </a:prstGeom>
          <a:noFill/>
          <a:ln/>
        </p:spPr>
        <p:txBody>
          <a:bodyPr wrap="square" lIns="0" tIns="0" rIns="0" bIns="0" rtlCol="0" anchor="ctr"/>
          <a:lstStyle/>
          <a:p>
            <a:pPr indent="0" marL="0">
              <a:buNone/>
            </a:pPr>
            <a:r>
              <a:rPr lang="en-US" sz="1300" b="1" dirty="0">
                <a:solidFill>
                  <a:srgbClr val="16213E"/>
                </a:solidFill>
                <a:latin typeface="Calibri" pitchFamily="34" charset="0"/>
                <a:ea typeface="Calibri" pitchFamily="34" charset="-122"/>
                <a:cs typeface="Calibri" pitchFamily="34" charset="-120"/>
              </a:rPr>
              <a:t>Consistent overage</a:t>
            </a:r>
            <a:endParaRPr lang="en-US" sz="1300" dirty="0"/>
          </a:p>
        </p:txBody>
      </p:sp>
      <p:sp>
        <p:nvSpPr>
          <p:cNvPr id="16" name="Text 14"/>
          <p:cNvSpPr/>
          <p:nvPr/>
        </p:nvSpPr>
        <p:spPr>
          <a:xfrm>
            <a:off x="2606040" y="2779776"/>
            <a:ext cx="5852160" cy="493776"/>
          </a:xfrm>
          <a:prstGeom prst="rect">
            <a:avLst/>
          </a:prstGeom>
          <a:noFill/>
          <a:ln/>
        </p:spPr>
        <p:txBody>
          <a:bodyPr wrap="square" lIns="0" tIns="0" rIns="0" bIns="0" rtlCol="0" anchor="ctr"/>
          <a:lstStyle/>
          <a:p>
            <a:pPr indent="0" marL="0">
              <a:buNone/>
            </a:pPr>
            <a:r>
              <a:rPr lang="en-US" sz="1100" dirty="0">
                <a:solidFill>
                  <a:srgbClr val="1B2540"/>
                </a:solidFill>
                <a:latin typeface="Calibri" pitchFamily="34" charset="0"/>
                <a:ea typeface="Calibri" pitchFamily="34" charset="-122"/>
                <a:cs typeface="Calibri" pitchFamily="34" charset="-120"/>
              </a:rPr>
              <a:t>Utilization capped in the score; raw overage feeds the expansion pipeline instead of inflating health</a:t>
            </a:r>
            <a:endParaRPr lang="en-US" sz="1100" dirty="0"/>
          </a:p>
        </p:txBody>
      </p:sp>
      <p:sp>
        <p:nvSpPr>
          <p:cNvPr id="17" name="Shape 15"/>
          <p:cNvSpPr/>
          <p:nvPr/>
        </p:nvSpPr>
        <p:spPr>
          <a:xfrm>
            <a:off x="502920" y="3429000"/>
            <a:ext cx="8138160" cy="566928"/>
          </a:xfrm>
          <a:prstGeom prst="rect">
            <a:avLst/>
          </a:prstGeom>
          <a:solidFill>
            <a:srgbClr val="F4F7FC"/>
          </a:solidFill>
          <a:ln/>
          <a:effectLst>
            <a:outerShdw sx="100000" sy="100000" kx="0" ky="0" algn="bl" rotWithShape="0" blurRad="63500" dist="25400" dir="8100000">
              <a:srgbClr val="9AA7BF">
                <a:alpha val="30000"/>
              </a:srgbClr>
            </a:outerShdw>
          </a:effectLst>
        </p:spPr>
      </p:sp>
      <p:sp>
        <p:nvSpPr>
          <p:cNvPr id="18" name="Shape 16"/>
          <p:cNvSpPr/>
          <p:nvPr/>
        </p:nvSpPr>
        <p:spPr>
          <a:xfrm>
            <a:off x="502920" y="3429000"/>
            <a:ext cx="64008" cy="566928"/>
          </a:xfrm>
          <a:prstGeom prst="rect">
            <a:avLst/>
          </a:prstGeom>
          <a:solidFill>
            <a:srgbClr val="16213E"/>
          </a:solidFill>
          <a:ln/>
        </p:spPr>
      </p:sp>
      <p:sp>
        <p:nvSpPr>
          <p:cNvPr id="19" name="Text 17"/>
          <p:cNvSpPr/>
          <p:nvPr/>
        </p:nvSpPr>
        <p:spPr>
          <a:xfrm>
            <a:off x="685800" y="3465576"/>
            <a:ext cx="1828800" cy="493776"/>
          </a:xfrm>
          <a:prstGeom prst="rect">
            <a:avLst/>
          </a:prstGeom>
          <a:noFill/>
          <a:ln/>
        </p:spPr>
        <p:txBody>
          <a:bodyPr wrap="square" lIns="0" tIns="0" rIns="0" bIns="0" rtlCol="0" anchor="ctr"/>
          <a:lstStyle/>
          <a:p>
            <a:pPr indent="0" marL="0">
              <a:buNone/>
            </a:pPr>
            <a:r>
              <a:rPr lang="en-US" sz="1300" b="1" dirty="0">
                <a:solidFill>
                  <a:srgbClr val="16213E"/>
                </a:solidFill>
                <a:latin typeface="Calibri" pitchFamily="34" charset="0"/>
                <a:ea typeface="Calibri" pitchFamily="34" charset="-122"/>
                <a:cs typeface="Calibri" pitchFamily="34" charset="-120"/>
              </a:rPr>
              <a:t>Mid-year expansion</a:t>
            </a:r>
            <a:endParaRPr lang="en-US" sz="1300" dirty="0"/>
          </a:p>
        </p:txBody>
      </p:sp>
      <p:sp>
        <p:nvSpPr>
          <p:cNvPr id="20" name="Text 18"/>
          <p:cNvSpPr/>
          <p:nvPr/>
        </p:nvSpPr>
        <p:spPr>
          <a:xfrm>
            <a:off x="2606040" y="3465576"/>
            <a:ext cx="5852160" cy="493776"/>
          </a:xfrm>
          <a:prstGeom prst="rect">
            <a:avLst/>
          </a:prstGeom>
          <a:noFill/>
          <a:ln/>
        </p:spPr>
        <p:txBody>
          <a:bodyPr wrap="square" lIns="0" tIns="0" rIns="0" bIns="0" rtlCol="0" anchor="ctr"/>
          <a:lstStyle/>
          <a:p>
            <a:pPr indent="0" marL="0">
              <a:buNone/>
            </a:pPr>
            <a:r>
              <a:rPr lang="en-US" sz="1100" dirty="0">
                <a:solidFill>
                  <a:srgbClr val="1B2540"/>
                </a:solidFill>
                <a:latin typeface="Calibri" pitchFamily="34" charset="0"/>
                <a:ea typeface="Calibri" pitchFamily="34" charset="-122"/>
                <a:cs typeface="Calibri" pitchFamily="34" charset="-120"/>
              </a:rPr>
              <a:t>Denominator steps up in the expansion month; a 2-month grace window stops the expected dip reading as churn</a:t>
            </a:r>
            <a:endParaRPr lang="en-US" sz="1100" dirty="0"/>
          </a:p>
        </p:txBody>
      </p:sp>
      <p:sp>
        <p:nvSpPr>
          <p:cNvPr id="21" name="Shape 19"/>
          <p:cNvSpPr/>
          <p:nvPr/>
        </p:nvSpPr>
        <p:spPr>
          <a:xfrm>
            <a:off x="502920" y="4114800"/>
            <a:ext cx="8138160" cy="566928"/>
          </a:xfrm>
          <a:prstGeom prst="rect">
            <a:avLst/>
          </a:prstGeom>
          <a:solidFill>
            <a:srgbClr val="F4F7FC"/>
          </a:solidFill>
          <a:ln/>
          <a:effectLst>
            <a:outerShdw sx="100000" sy="100000" kx="0" ky="0" algn="bl" rotWithShape="0" blurRad="63500" dist="25400" dir="8100000">
              <a:srgbClr val="9AA7BF">
                <a:alpha val="30000"/>
              </a:srgbClr>
            </a:outerShdw>
          </a:effectLst>
        </p:spPr>
      </p:sp>
      <p:sp>
        <p:nvSpPr>
          <p:cNvPr id="22" name="Shape 20"/>
          <p:cNvSpPr/>
          <p:nvPr/>
        </p:nvSpPr>
        <p:spPr>
          <a:xfrm>
            <a:off x="502920" y="4114800"/>
            <a:ext cx="64008" cy="566928"/>
          </a:xfrm>
          <a:prstGeom prst="rect">
            <a:avLst/>
          </a:prstGeom>
          <a:solidFill>
            <a:srgbClr val="51607A"/>
          </a:solidFill>
          <a:ln/>
        </p:spPr>
      </p:sp>
      <p:sp>
        <p:nvSpPr>
          <p:cNvPr id="23" name="Text 21"/>
          <p:cNvSpPr/>
          <p:nvPr/>
        </p:nvSpPr>
        <p:spPr>
          <a:xfrm>
            <a:off x="685800" y="4151376"/>
            <a:ext cx="1828800" cy="493776"/>
          </a:xfrm>
          <a:prstGeom prst="rect">
            <a:avLst/>
          </a:prstGeom>
          <a:noFill/>
          <a:ln/>
        </p:spPr>
        <p:txBody>
          <a:bodyPr wrap="square" lIns="0" tIns="0" rIns="0" bIns="0" rtlCol="0" anchor="ctr"/>
          <a:lstStyle/>
          <a:p>
            <a:pPr indent="0" marL="0">
              <a:buNone/>
            </a:pPr>
            <a:r>
              <a:rPr lang="en-US" sz="1300" b="1" dirty="0">
                <a:solidFill>
                  <a:srgbClr val="16213E"/>
                </a:solidFill>
                <a:latin typeface="Calibri" pitchFamily="34" charset="0"/>
                <a:ea typeface="Calibri" pitchFamily="34" charset="-122"/>
                <a:cs typeface="Calibri" pitchFamily="34" charset="-120"/>
              </a:rPr>
              <a:t>Deployment lag</a:t>
            </a:r>
            <a:endParaRPr lang="en-US" sz="1300" dirty="0"/>
          </a:p>
        </p:txBody>
      </p:sp>
      <p:sp>
        <p:nvSpPr>
          <p:cNvPr id="24" name="Text 22"/>
          <p:cNvSpPr/>
          <p:nvPr/>
        </p:nvSpPr>
        <p:spPr>
          <a:xfrm>
            <a:off x="2606040" y="4151376"/>
            <a:ext cx="5852160" cy="493776"/>
          </a:xfrm>
          <a:prstGeom prst="rect">
            <a:avLst/>
          </a:prstGeom>
          <a:noFill/>
          <a:ln/>
        </p:spPr>
        <p:txBody>
          <a:bodyPr wrap="square" lIns="0" tIns="0" rIns="0" bIns="0" rtlCol="0" anchor="ctr"/>
          <a:lstStyle/>
          <a:p>
            <a:pPr indent="0" marL="0">
              <a:buNone/>
            </a:pPr>
            <a:r>
              <a:rPr lang="en-US" sz="1100" dirty="0">
                <a:solidFill>
                  <a:srgbClr val="1B2540"/>
                </a:solidFill>
                <a:latin typeface="Calibri" pitchFamily="34" charset="0"/>
                <a:ea typeface="Calibri" pitchFamily="34" charset="-122"/>
                <a:cs typeface="Calibri" pitchFamily="34" charset="-120"/>
              </a:rPr>
              <a:t>A real per-product adoption date drives day-level time-to-first-value (0-90 days), not a monthly approximation</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6213E"/>
          </a:solidFill>
          <a:ln/>
        </p:spPr>
      </p:sp>
      <p:sp>
        <p:nvSpPr>
          <p:cNvPr id="3" name="Text 1"/>
          <p:cNvSpPr/>
          <p:nvPr/>
        </p:nvSpPr>
        <p:spPr>
          <a:xfrm>
            <a:off x="502920" y="256032"/>
            <a:ext cx="8138160" cy="274320"/>
          </a:xfrm>
          <a:prstGeom prst="rect">
            <a:avLst/>
          </a:prstGeom>
          <a:noFill/>
          <a:ln/>
        </p:spPr>
        <p:txBody>
          <a:bodyPr wrap="square" lIns="0" tIns="0" rIns="0" bIns="0" rtlCol="0" anchor="ctr"/>
          <a:lstStyle/>
          <a:p>
            <a:pPr indent="0" marL="0">
              <a:buNone/>
            </a:pPr>
            <a:r>
              <a:rPr lang="en-US" sz="1100" b="1" spc="300" kern="0" dirty="0">
                <a:solidFill>
                  <a:srgbClr val="0B8F72"/>
                </a:solidFill>
                <a:latin typeface="Calibri" pitchFamily="34" charset="0"/>
                <a:ea typeface="Calibri" pitchFamily="34" charset="-122"/>
                <a:cs typeface="Calibri" pitchFamily="34" charset="-120"/>
              </a:rPr>
              <a:t>EVALUATION &amp; RESULTS</a:t>
            </a:r>
            <a:endParaRPr lang="en-US" sz="1100" dirty="0"/>
          </a:p>
        </p:txBody>
      </p:sp>
      <p:sp>
        <p:nvSpPr>
          <p:cNvPr id="4" name="Text 2"/>
          <p:cNvSpPr/>
          <p:nvPr/>
        </p:nvSpPr>
        <p:spPr>
          <a:xfrm>
            <a:off x="502920" y="475488"/>
            <a:ext cx="8138160" cy="685800"/>
          </a:xfrm>
          <a:prstGeom prst="rect">
            <a:avLst/>
          </a:prstGeom>
          <a:noFill/>
          <a:ln/>
        </p:spPr>
        <p:txBody>
          <a:bodyPr wrap="square" lIns="0" tIns="0" rIns="0" bIns="0" rtlCol="0" anchor="t"/>
          <a:lstStyle/>
          <a:p>
            <a:pPr indent="0" marL="0">
              <a:buNone/>
            </a:pPr>
            <a:r>
              <a:rPr lang="en-US" sz="2900" b="1" dirty="0">
                <a:solidFill>
                  <a:srgbClr val="16213E"/>
                </a:solidFill>
                <a:latin typeface="Georgia" pitchFamily="34" charset="0"/>
                <a:ea typeface="Georgia" pitchFamily="34" charset="-122"/>
                <a:cs typeface="Georgia" pitchFamily="34" charset="-120"/>
              </a:rPr>
              <a:t>We evaluated the metric like a model</a:t>
            </a:r>
            <a:endParaRPr lang="en-US" sz="2900" dirty="0"/>
          </a:p>
        </p:txBody>
      </p:sp>
      <p:sp>
        <p:nvSpPr>
          <p:cNvPr id="5" name="Shape 3"/>
          <p:cNvSpPr/>
          <p:nvPr/>
        </p:nvSpPr>
        <p:spPr>
          <a:xfrm>
            <a:off x="502920" y="1325880"/>
            <a:ext cx="3977640" cy="3383280"/>
          </a:xfrm>
          <a:prstGeom prst="rect">
            <a:avLst/>
          </a:prstGeom>
          <a:solidFill>
            <a:srgbClr val="F4F7FC"/>
          </a:solidFill>
          <a:ln/>
          <a:effectLst>
            <a:outerShdw sx="100000" sy="100000" kx="0" ky="0" algn="bl" rotWithShape="0" blurRad="63500" dist="25400" dir="8100000">
              <a:srgbClr val="9AA7BF">
                <a:alpha val="30000"/>
              </a:srgbClr>
            </a:outerShdw>
          </a:effectLst>
        </p:spPr>
      </p:sp>
      <p:sp>
        <p:nvSpPr>
          <p:cNvPr id="6" name="Shape 4"/>
          <p:cNvSpPr/>
          <p:nvPr/>
        </p:nvSpPr>
        <p:spPr>
          <a:xfrm>
            <a:off x="502920" y="1325880"/>
            <a:ext cx="64008" cy="3383280"/>
          </a:xfrm>
          <a:prstGeom prst="rect">
            <a:avLst/>
          </a:prstGeom>
          <a:solidFill>
            <a:srgbClr val="16213E"/>
          </a:solidFill>
          <a:ln/>
        </p:spPr>
      </p:sp>
      <p:sp>
        <p:nvSpPr>
          <p:cNvPr id="7" name="Text 5"/>
          <p:cNvSpPr/>
          <p:nvPr/>
        </p:nvSpPr>
        <p:spPr>
          <a:xfrm>
            <a:off x="685800" y="1481328"/>
            <a:ext cx="3566160" cy="365760"/>
          </a:xfrm>
          <a:prstGeom prst="rect">
            <a:avLst/>
          </a:prstGeom>
          <a:noFill/>
          <a:ln/>
        </p:spPr>
        <p:txBody>
          <a:bodyPr wrap="square" lIns="0" tIns="0" rIns="0" bIns="0" rtlCol="0" anchor="ctr"/>
          <a:lstStyle/>
          <a:p>
            <a:pPr indent="0" marL="0">
              <a:buNone/>
            </a:pPr>
            <a:r>
              <a:rPr lang="en-US" sz="1500" b="1" dirty="0">
                <a:solidFill>
                  <a:srgbClr val="16213E"/>
                </a:solidFill>
                <a:latin typeface="Georgia" pitchFamily="34" charset="0"/>
                <a:ea typeface="Georgia" pitchFamily="34" charset="-122"/>
                <a:cs typeface="Georgia" pitchFamily="34" charset="-120"/>
              </a:rPr>
              <a:t>Ground-truth validation</a:t>
            </a:r>
            <a:endParaRPr lang="en-US" sz="1500" dirty="0"/>
          </a:p>
        </p:txBody>
      </p:sp>
      <p:sp>
        <p:nvSpPr>
          <p:cNvPr id="8" name="Text 6"/>
          <p:cNvSpPr/>
          <p:nvPr/>
        </p:nvSpPr>
        <p:spPr>
          <a:xfrm>
            <a:off x="685800" y="1883664"/>
            <a:ext cx="3611880" cy="2743200"/>
          </a:xfrm>
          <a:prstGeom prst="rect">
            <a:avLst/>
          </a:prstGeom>
          <a:noFill/>
          <a:ln/>
        </p:spPr>
        <p:txBody>
          <a:bodyPr wrap="square" lIns="0" tIns="0" rIns="0" bIns="0" rtlCol="0" anchor="ctr"/>
          <a:lstStyle/>
          <a:p>
            <a:pPr marL="342900" indent="-342900">
              <a:spcAft>
                <a:spcPts val="800"/>
              </a:spcAft>
              <a:buSzPct val="100000"/>
              <a:buChar char="•"/>
            </a:pPr>
            <a:r>
              <a:rPr lang="en-US" sz="1150" dirty="0">
                <a:solidFill>
                  <a:srgbClr val="1B2540"/>
                </a:solidFill>
                <a:latin typeface="Calibri" pitchFamily="34" charset="0"/>
                <a:ea typeface="Calibri" pitchFamily="34" charset="-122"/>
                <a:cs typeface="Calibri" pitchFamily="34" charset="-120"/>
              </a:rPr>
              <a:t>Synthetic data ships with labeled cohorts - the answer key is known before scoring</a:t>
            </a:r>
            <a:endParaRPr lang="en-US" sz="1150" dirty="0"/>
          </a:p>
          <a:p>
            <a:pPr marL="342900" indent="-342900">
              <a:spcAft>
                <a:spcPts val="800"/>
              </a:spcAft>
              <a:buSzPct val="100000"/>
              <a:buChar char="•"/>
            </a:pPr>
            <a:r>
              <a:rPr lang="en-US" sz="1150" dirty="0">
                <a:solidFill>
                  <a:srgbClr val="1B2540"/>
                </a:solidFill>
                <a:latin typeface="Calibri" pitchFamily="34" charset="0"/>
                <a:ea typeface="Calibri" pitchFamily="34" charset="-122"/>
                <a:cs typeface="Calibri" pitchFamily="34" charset="-120"/>
              </a:rPr>
              <a:t>Tests require &gt;=90% of each injected cohort to land in the intended health tier</a:t>
            </a:r>
            <a:endParaRPr lang="en-US" sz="1150" dirty="0"/>
          </a:p>
          <a:p>
            <a:pPr marL="342900" indent="-342900">
              <a:spcAft>
                <a:spcPts val="800"/>
              </a:spcAft>
              <a:buSzPct val="100000"/>
              <a:buChar char="•"/>
            </a:pPr>
            <a:r>
              <a:rPr lang="en-US" sz="1150" dirty="0">
                <a:solidFill>
                  <a:srgbClr val="1B2540"/>
                </a:solidFill>
                <a:latin typeface="Calibri" pitchFamily="34" charset="0"/>
                <a:ea typeface="Calibri" pitchFamily="34" charset="-122"/>
                <a:cs typeface="Calibri" pitchFamily="34" charset="-120"/>
              </a:rPr>
              <a:t>28 automated tests: structural integrity, score bounds, no-account-dropped, and cohort detection - green on every run</a:t>
            </a:r>
            <a:endParaRPr lang="en-US" sz="1150" dirty="0"/>
          </a:p>
          <a:p>
            <a:pPr marL="342900" indent="-342900">
              <a:spcAft>
                <a:spcPts val="800"/>
              </a:spcAft>
              <a:buSzPct val="100000"/>
              <a:buChar char="•"/>
            </a:pPr>
            <a:r>
              <a:rPr lang="en-US" sz="1150" dirty="0">
                <a:solidFill>
                  <a:srgbClr val="1B2540"/>
                </a:solidFill>
                <a:latin typeface="Calibri" pitchFamily="34" charset="0"/>
                <a:ea typeface="Calibri" pitchFamily="34" charset="-122"/>
                <a:cs typeface="Calibri" pitchFamily="34" charset="-120"/>
              </a:rPr>
              <a:t>BigQuery caught real bugs a local run hid: a CTE/column name collision and negative time-to-value</a:t>
            </a:r>
            <a:endParaRPr lang="en-US" sz="1150" dirty="0"/>
          </a:p>
        </p:txBody>
      </p:sp>
      <p:sp>
        <p:nvSpPr>
          <p:cNvPr id="9" name="Shape 7"/>
          <p:cNvSpPr/>
          <p:nvPr/>
        </p:nvSpPr>
        <p:spPr>
          <a:xfrm>
            <a:off x="4663440" y="1325880"/>
            <a:ext cx="3977640" cy="3383280"/>
          </a:xfrm>
          <a:prstGeom prst="rect">
            <a:avLst/>
          </a:prstGeom>
          <a:solidFill>
            <a:srgbClr val="F4F7FC"/>
          </a:solidFill>
          <a:ln/>
          <a:effectLst>
            <a:outerShdw sx="100000" sy="100000" kx="0" ky="0" algn="bl" rotWithShape="0" blurRad="63500" dist="25400" dir="8100000">
              <a:srgbClr val="9AA7BF">
                <a:alpha val="30000"/>
              </a:srgbClr>
            </a:outerShdw>
          </a:effectLst>
        </p:spPr>
      </p:sp>
      <p:sp>
        <p:nvSpPr>
          <p:cNvPr id="10" name="Shape 8"/>
          <p:cNvSpPr/>
          <p:nvPr/>
        </p:nvSpPr>
        <p:spPr>
          <a:xfrm>
            <a:off x="4663440" y="1325880"/>
            <a:ext cx="64008" cy="3383280"/>
          </a:xfrm>
          <a:prstGeom prst="rect">
            <a:avLst/>
          </a:prstGeom>
          <a:solidFill>
            <a:srgbClr val="0B8F72"/>
          </a:solidFill>
          <a:ln/>
        </p:spPr>
      </p:sp>
      <p:sp>
        <p:nvSpPr>
          <p:cNvPr id="11" name="Text 9"/>
          <p:cNvSpPr/>
          <p:nvPr/>
        </p:nvSpPr>
        <p:spPr>
          <a:xfrm>
            <a:off x="4846320" y="1481328"/>
            <a:ext cx="3566160" cy="365760"/>
          </a:xfrm>
          <a:prstGeom prst="rect">
            <a:avLst/>
          </a:prstGeom>
          <a:noFill/>
          <a:ln/>
        </p:spPr>
        <p:txBody>
          <a:bodyPr wrap="square" lIns="0" tIns="0" rIns="0" bIns="0" rtlCol="0" anchor="ctr"/>
          <a:lstStyle/>
          <a:p>
            <a:pPr indent="0" marL="0">
              <a:buNone/>
            </a:pPr>
            <a:r>
              <a:rPr lang="en-US" sz="1500" b="1" dirty="0">
                <a:solidFill>
                  <a:srgbClr val="16213E"/>
                </a:solidFill>
                <a:latin typeface="Georgia" pitchFamily="34" charset="0"/>
                <a:ea typeface="Georgia" pitchFamily="34" charset="-122"/>
                <a:cs typeface="Georgia" pitchFamily="34" charset="-120"/>
              </a:rPr>
              <a:t>Tied to business KPIs</a:t>
            </a:r>
            <a:endParaRPr lang="en-US" sz="1500" dirty="0"/>
          </a:p>
        </p:txBody>
      </p:sp>
      <p:sp>
        <p:nvSpPr>
          <p:cNvPr id="12" name="Text 10"/>
          <p:cNvSpPr/>
          <p:nvPr/>
        </p:nvSpPr>
        <p:spPr>
          <a:xfrm>
            <a:off x="4846320" y="1920240"/>
            <a:ext cx="3611880" cy="621792"/>
          </a:xfrm>
          <a:prstGeom prst="rect">
            <a:avLst/>
          </a:prstGeom>
          <a:noFill/>
          <a:ln/>
        </p:spPr>
        <p:txBody>
          <a:bodyPr wrap="square" lIns="0" tIns="0" rIns="0" bIns="0" rtlCol="0" anchor="ctr"/>
          <a:lstStyle/>
          <a:p>
            <a:pPr indent="0" marL="0">
              <a:buNone/>
            </a:pPr>
            <a:r>
              <a:rPr lang="en-US" sz="1250" b="1" dirty="0">
                <a:solidFill>
                  <a:srgbClr val="16213E"/>
                </a:solidFill>
                <a:latin typeface="Calibri" pitchFamily="34" charset="0"/>
                <a:ea typeface="Calibri" pitchFamily="34" charset="-122"/>
                <a:cs typeface="Calibri" pitchFamily="34" charset="-120"/>
              </a:rPr>
              <a:t>Shelfware tier</a:t>
            </a:r>
            <a:endParaRPr lang="en-US" sz="1250" dirty="0"/>
          </a:p>
          <a:p>
            <a:pPr indent="0" marL="0">
              <a:buNone/>
            </a:pPr>
            <a:r>
              <a:rPr lang="en-US" sz="1100" dirty="0">
                <a:solidFill>
                  <a:srgbClr val="51607A"/>
                </a:solidFill>
                <a:latin typeface="Calibri" pitchFamily="34" charset="0"/>
                <a:ea typeface="Calibri" pitchFamily="34" charset="-122"/>
                <a:cs typeface="Calibri" pitchFamily="34" charset="-120"/>
              </a:rPr>
              <a:t>Deployment rescue -&gt; time-to-first-value</a:t>
            </a:r>
            <a:endParaRPr lang="en-US" sz="1250" dirty="0"/>
          </a:p>
        </p:txBody>
      </p:sp>
      <p:sp>
        <p:nvSpPr>
          <p:cNvPr id="13" name="Text 11"/>
          <p:cNvSpPr/>
          <p:nvPr/>
        </p:nvSpPr>
        <p:spPr>
          <a:xfrm>
            <a:off x="4846320" y="2578608"/>
            <a:ext cx="3611880" cy="621792"/>
          </a:xfrm>
          <a:prstGeom prst="rect">
            <a:avLst/>
          </a:prstGeom>
          <a:noFill/>
          <a:ln/>
        </p:spPr>
        <p:txBody>
          <a:bodyPr wrap="square" lIns="0" tIns="0" rIns="0" bIns="0" rtlCol="0" anchor="ctr"/>
          <a:lstStyle/>
          <a:p>
            <a:pPr indent="0" marL="0">
              <a:buNone/>
            </a:pPr>
            <a:r>
              <a:rPr lang="en-US" sz="1250" b="1" dirty="0">
                <a:solidFill>
                  <a:srgbClr val="16213E"/>
                </a:solidFill>
                <a:latin typeface="Calibri" pitchFamily="34" charset="0"/>
                <a:ea typeface="Calibri" pitchFamily="34" charset="-122"/>
                <a:cs typeface="Calibri" pitchFamily="34" charset="-120"/>
              </a:rPr>
              <a:t>At Risk tier</a:t>
            </a:r>
            <a:endParaRPr lang="en-US" sz="1250" dirty="0"/>
          </a:p>
          <a:p>
            <a:pPr indent="0" marL="0">
              <a:buNone/>
            </a:pPr>
            <a:r>
              <a:rPr lang="en-US" sz="1100" dirty="0">
                <a:solidFill>
                  <a:srgbClr val="51607A"/>
                </a:solidFill>
                <a:latin typeface="Calibri" pitchFamily="34" charset="0"/>
                <a:ea typeface="Calibri" pitchFamily="34" charset="-122"/>
                <a:cs typeface="Calibri" pitchFamily="34" charset="-120"/>
              </a:rPr>
              <a:t>Save motions -&gt; gross retention</a:t>
            </a:r>
            <a:endParaRPr lang="en-US" sz="1250" dirty="0"/>
          </a:p>
        </p:txBody>
      </p:sp>
      <p:sp>
        <p:nvSpPr>
          <p:cNvPr id="14" name="Text 12"/>
          <p:cNvSpPr/>
          <p:nvPr/>
        </p:nvSpPr>
        <p:spPr>
          <a:xfrm>
            <a:off x="4846320" y="3236976"/>
            <a:ext cx="3611880" cy="621792"/>
          </a:xfrm>
          <a:prstGeom prst="rect">
            <a:avLst/>
          </a:prstGeom>
          <a:noFill/>
          <a:ln/>
        </p:spPr>
        <p:txBody>
          <a:bodyPr wrap="square" lIns="0" tIns="0" rIns="0" bIns="0" rtlCol="0" anchor="ctr"/>
          <a:lstStyle/>
          <a:p>
            <a:pPr indent="0" marL="0">
              <a:buNone/>
            </a:pPr>
            <a:r>
              <a:rPr lang="en-US" sz="1250" b="1" dirty="0">
                <a:solidFill>
                  <a:srgbClr val="16213E"/>
                </a:solidFill>
                <a:latin typeface="Calibri" pitchFamily="34" charset="0"/>
                <a:ea typeface="Calibri" pitchFamily="34" charset="-122"/>
                <a:cs typeface="Calibri" pitchFamily="34" charset="-120"/>
              </a:rPr>
              <a:t>Expansion flag</a:t>
            </a:r>
            <a:endParaRPr lang="en-US" sz="1250" dirty="0"/>
          </a:p>
          <a:p>
            <a:pPr indent="0" marL="0">
              <a:buNone/>
            </a:pPr>
            <a:r>
              <a:rPr lang="en-US" sz="1100" dirty="0">
                <a:solidFill>
                  <a:srgbClr val="51607A"/>
                </a:solidFill>
                <a:latin typeface="Calibri" pitchFamily="34" charset="0"/>
                <a:ea typeface="Calibri" pitchFamily="34" charset="-122"/>
                <a:cs typeface="Calibri" pitchFamily="34" charset="-120"/>
              </a:rPr>
              <a:t>True-up pipeline -&gt; net revenue retention</a:t>
            </a:r>
            <a:endParaRPr lang="en-US" sz="1250" dirty="0"/>
          </a:p>
        </p:txBody>
      </p:sp>
      <p:sp>
        <p:nvSpPr>
          <p:cNvPr id="15" name="Text 13"/>
          <p:cNvSpPr/>
          <p:nvPr/>
        </p:nvSpPr>
        <p:spPr>
          <a:xfrm>
            <a:off x="4846320" y="3895344"/>
            <a:ext cx="3611880" cy="621792"/>
          </a:xfrm>
          <a:prstGeom prst="rect">
            <a:avLst/>
          </a:prstGeom>
          <a:noFill/>
          <a:ln/>
        </p:spPr>
        <p:txBody>
          <a:bodyPr wrap="square" lIns="0" tIns="0" rIns="0" bIns="0" rtlCol="0" anchor="ctr"/>
          <a:lstStyle/>
          <a:p>
            <a:pPr indent="0" marL="0">
              <a:buNone/>
            </a:pPr>
            <a:r>
              <a:rPr lang="en-US" sz="1250" b="1" dirty="0">
                <a:solidFill>
                  <a:srgbClr val="16213E"/>
                </a:solidFill>
                <a:latin typeface="Calibri" pitchFamily="34" charset="0"/>
                <a:ea typeface="Calibri" pitchFamily="34" charset="-122"/>
                <a:cs typeface="Calibri" pitchFamily="34" charset="-120"/>
              </a:rPr>
              <a:t>Feature depth</a:t>
            </a:r>
            <a:endParaRPr lang="en-US" sz="1250" dirty="0"/>
          </a:p>
          <a:p>
            <a:pPr indent="0" marL="0">
              <a:buNone/>
            </a:pPr>
            <a:r>
              <a:rPr lang="en-US" sz="1100" dirty="0">
                <a:solidFill>
                  <a:srgbClr val="51607A"/>
                </a:solidFill>
                <a:latin typeface="Calibri" pitchFamily="34" charset="0"/>
                <a:ea typeface="Calibri" pitchFamily="34" charset="-122"/>
                <a:cs typeface="Calibri" pitchFamily="34" charset="-120"/>
              </a:rPr>
              <a:t>Activation campaigns -&gt; roadmap bets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9"/>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2C39A"/>
          </a:solidFill>
          <a:ln/>
        </p:spPr>
      </p:sp>
      <p:sp>
        <p:nvSpPr>
          <p:cNvPr id="3" name="Text 1"/>
          <p:cNvSpPr/>
          <p:nvPr/>
        </p:nvSpPr>
        <p:spPr>
          <a:xfrm>
            <a:off x="731520" y="384048"/>
            <a:ext cx="7680960" cy="292608"/>
          </a:xfrm>
          <a:prstGeom prst="rect">
            <a:avLst/>
          </a:prstGeom>
          <a:noFill/>
          <a:ln/>
        </p:spPr>
        <p:txBody>
          <a:bodyPr wrap="square" lIns="0" tIns="0" rIns="0" bIns="0" rtlCol="0" anchor="ctr"/>
          <a:lstStyle/>
          <a:p>
            <a:pPr indent="0" marL="0">
              <a:buNone/>
            </a:pPr>
            <a:r>
              <a:rPr lang="en-US" sz="1200" b="1" spc="300" kern="0" dirty="0">
                <a:solidFill>
                  <a:srgbClr val="02C39A"/>
                </a:solidFill>
                <a:latin typeface="Calibri" pitchFamily="34" charset="0"/>
                <a:ea typeface="Calibri" pitchFamily="34" charset="-122"/>
                <a:cs typeface="Calibri" pitchFamily="34" charset="-120"/>
              </a:rPr>
              <a:t>EVALUATION &amp; RESULTS · HARD TRUTHS</a:t>
            </a:r>
            <a:endParaRPr lang="en-US" sz="1200" dirty="0"/>
          </a:p>
        </p:txBody>
      </p:sp>
      <p:sp>
        <p:nvSpPr>
          <p:cNvPr id="4" name="Text 2"/>
          <p:cNvSpPr/>
          <p:nvPr/>
        </p:nvSpPr>
        <p:spPr>
          <a:xfrm>
            <a:off x="731520" y="713232"/>
            <a:ext cx="7680960" cy="548640"/>
          </a:xfrm>
          <a:prstGeom prst="rect">
            <a:avLst/>
          </a:prstGeom>
          <a:noFill/>
          <a:ln/>
        </p:spPr>
        <p:txBody>
          <a:bodyPr wrap="square" lIns="0" tIns="0" rIns="0" bIns="0" rtlCol="0" anchor="ctr"/>
          <a:lstStyle/>
          <a:p>
            <a:pPr indent="0" marL="0">
              <a:buNone/>
            </a:pPr>
            <a:r>
              <a:rPr lang="en-US" sz="2900" b="1" dirty="0">
                <a:solidFill>
                  <a:srgbClr val="FFFFFF"/>
                </a:solidFill>
                <a:latin typeface="Georgia" pitchFamily="34" charset="0"/>
                <a:ea typeface="Georgia" pitchFamily="34" charset="-122"/>
                <a:cs typeface="Georgia" pitchFamily="34" charset="-120"/>
              </a:rPr>
              <a:t>Hard truths, and the road ahead</a:t>
            </a:r>
            <a:endParaRPr lang="en-US" sz="2900" dirty="0"/>
          </a:p>
        </p:txBody>
      </p:sp>
      <p:sp>
        <p:nvSpPr>
          <p:cNvPr id="5" name="Text 3"/>
          <p:cNvSpPr/>
          <p:nvPr/>
        </p:nvSpPr>
        <p:spPr>
          <a:xfrm>
            <a:off x="731520" y="1481328"/>
            <a:ext cx="3749040" cy="320040"/>
          </a:xfrm>
          <a:prstGeom prst="rect">
            <a:avLst/>
          </a:prstGeom>
          <a:noFill/>
          <a:ln/>
        </p:spPr>
        <p:txBody>
          <a:bodyPr wrap="square" lIns="0" tIns="0" rIns="0" bIns="0" rtlCol="0" anchor="ctr"/>
          <a:lstStyle/>
          <a:p>
            <a:pPr indent="0" marL="0">
              <a:buNone/>
            </a:pPr>
            <a:r>
              <a:rPr lang="en-US" sz="1500" b="1" dirty="0">
                <a:solidFill>
                  <a:srgbClr val="CADCFC"/>
                </a:solidFill>
                <a:latin typeface="Georgia" pitchFamily="34" charset="0"/>
                <a:ea typeface="Georgia" pitchFamily="34" charset="-122"/>
                <a:cs typeface="Georgia" pitchFamily="34" charset="-120"/>
              </a:rPr>
              <a:t>Hard truths learned</a:t>
            </a:r>
            <a:endParaRPr lang="en-US" sz="1500" dirty="0"/>
          </a:p>
        </p:txBody>
      </p:sp>
      <p:sp>
        <p:nvSpPr>
          <p:cNvPr id="6" name="Text 4"/>
          <p:cNvSpPr/>
          <p:nvPr/>
        </p:nvSpPr>
        <p:spPr>
          <a:xfrm>
            <a:off x="731520" y="1847088"/>
            <a:ext cx="3749040" cy="2743200"/>
          </a:xfrm>
          <a:prstGeom prst="rect">
            <a:avLst/>
          </a:prstGeom>
          <a:noFill/>
          <a:ln/>
        </p:spPr>
        <p:txBody>
          <a:bodyPr wrap="square" lIns="0" tIns="0" rIns="0" bIns="0" rtlCol="0" anchor="ctr"/>
          <a:lstStyle/>
          <a:p>
            <a:pPr marL="342900" indent="-342900">
              <a:spcAft>
                <a:spcPts val="700"/>
              </a:spcAft>
              <a:buSzPct val="100000"/>
              <a:buChar char="•"/>
            </a:pPr>
            <a:r>
              <a:rPr lang="en-US" sz="1150" dirty="0">
                <a:solidFill>
                  <a:srgbClr val="CADCFC"/>
                </a:solidFill>
                <a:latin typeface="Calibri" pitchFamily="34" charset="0"/>
                <a:ea typeface="Calibri" pitchFamily="34" charset="-122"/>
                <a:cs typeface="Calibri" pitchFamily="34" charset="-120"/>
              </a:rPr>
              <a:t>The &gt;=25-point drop rule is dormant on this data - every real decline already breaches the absolute floor first; it earns its place only for slow erosion the data doesn't model yet</a:t>
            </a:r>
            <a:endParaRPr lang="en-US" sz="1150" dirty="0"/>
          </a:p>
          <a:p>
            <a:pPr marL="342900" indent="-342900">
              <a:spcAft>
                <a:spcPts val="700"/>
              </a:spcAft>
              <a:buSzPct val="100000"/>
              <a:buChar char="•"/>
            </a:pPr>
            <a:r>
              <a:rPr lang="en-US" sz="1150" dirty="0">
                <a:solidFill>
                  <a:srgbClr val="CADCFC"/>
                </a:solidFill>
                <a:latin typeface="Calibri" pitchFamily="34" charset="0"/>
                <a:ea typeface="Calibri" pitchFamily="34" charset="-122"/>
                <a:cs typeface="Calibri" pitchFamily="34" charset="-120"/>
              </a:rPr>
              <a:t>Day-precision on monthly data is a trap: TTFV needed a real adoption date, not arithmetic on a daily start</a:t>
            </a:r>
            <a:endParaRPr lang="en-US" sz="1150" dirty="0"/>
          </a:p>
          <a:p>
            <a:pPr marL="342900" indent="-342900">
              <a:spcAft>
                <a:spcPts val="700"/>
              </a:spcAft>
              <a:buSzPct val="100000"/>
              <a:buChar char="•"/>
            </a:pPr>
            <a:r>
              <a:rPr lang="en-US" sz="1150" dirty="0">
                <a:solidFill>
                  <a:srgbClr val="CADCFC"/>
                </a:solidFill>
                <a:latin typeface="Calibri" pitchFamily="34" charset="0"/>
                <a:ea typeface="Calibri" pitchFamily="34" charset="-122"/>
                <a:cs typeface="Calibri" pitchFamily="34" charset="-120"/>
              </a:rPr>
              <a:t>Composite weights are judgment - so they are versioned, tested, and governance-owned, not tuned quietly</a:t>
            </a:r>
            <a:endParaRPr lang="en-US" sz="1150" dirty="0"/>
          </a:p>
        </p:txBody>
      </p:sp>
      <p:sp>
        <p:nvSpPr>
          <p:cNvPr id="7" name="Text 5"/>
          <p:cNvSpPr/>
          <p:nvPr/>
        </p:nvSpPr>
        <p:spPr>
          <a:xfrm>
            <a:off x="4846320" y="1481328"/>
            <a:ext cx="3657600" cy="320040"/>
          </a:xfrm>
          <a:prstGeom prst="rect">
            <a:avLst/>
          </a:prstGeom>
          <a:noFill/>
          <a:ln/>
        </p:spPr>
        <p:txBody>
          <a:bodyPr wrap="square" lIns="0" tIns="0" rIns="0" bIns="0" rtlCol="0" anchor="ctr"/>
          <a:lstStyle/>
          <a:p>
            <a:pPr indent="0" marL="0">
              <a:buNone/>
            </a:pPr>
            <a:r>
              <a:rPr lang="en-US" sz="1500" b="1" dirty="0">
                <a:solidFill>
                  <a:srgbClr val="CADCFC"/>
                </a:solidFill>
                <a:latin typeface="Georgia" pitchFamily="34" charset="0"/>
                <a:ea typeface="Georgia" pitchFamily="34" charset="-122"/>
                <a:cs typeface="Georgia" pitchFamily="34" charset="-120"/>
              </a:rPr>
              <a:t>If rebuilt with today's stack</a:t>
            </a:r>
            <a:endParaRPr lang="en-US" sz="1500" dirty="0"/>
          </a:p>
        </p:txBody>
      </p:sp>
      <p:sp>
        <p:nvSpPr>
          <p:cNvPr id="8" name="Text 6"/>
          <p:cNvSpPr/>
          <p:nvPr/>
        </p:nvSpPr>
        <p:spPr>
          <a:xfrm>
            <a:off x="4846320" y="1847088"/>
            <a:ext cx="3657600" cy="2743200"/>
          </a:xfrm>
          <a:prstGeom prst="rect">
            <a:avLst/>
          </a:prstGeom>
          <a:noFill/>
          <a:ln/>
        </p:spPr>
        <p:txBody>
          <a:bodyPr wrap="square" lIns="0" tIns="0" rIns="0" bIns="0" rtlCol="0" anchor="ctr"/>
          <a:lstStyle/>
          <a:p>
            <a:pPr marL="342900" indent="-342900">
              <a:spcAft>
                <a:spcPts val="700"/>
              </a:spcAft>
              <a:buSzPct val="100000"/>
              <a:buChar char="•"/>
            </a:pPr>
            <a:r>
              <a:rPr lang="en-US" sz="1150" dirty="0">
                <a:solidFill>
                  <a:srgbClr val="CADCFC"/>
                </a:solidFill>
                <a:latin typeface="Calibri" pitchFamily="34" charset="0"/>
                <a:ea typeface="Calibri" pitchFamily="34" charset="-122"/>
                <a:cs typeface="Calibri" pitchFamily="34" charset="-120"/>
              </a:rPr>
              <a:t>Agentic triage: an agent investigates every tier change and drafts the CSM brief</a:t>
            </a:r>
            <a:endParaRPr lang="en-US" sz="1150" dirty="0"/>
          </a:p>
          <a:p>
            <a:pPr marL="342900" indent="-342900">
              <a:spcAft>
                <a:spcPts val="700"/>
              </a:spcAft>
              <a:buSzPct val="100000"/>
              <a:buChar char="•"/>
            </a:pPr>
            <a:r>
              <a:rPr lang="en-US" sz="1150" dirty="0">
                <a:solidFill>
                  <a:srgbClr val="CADCFC"/>
                </a:solidFill>
                <a:latin typeface="Calibri" pitchFamily="34" charset="0"/>
                <a:ea typeface="Calibri" pitchFamily="34" charset="-122"/>
                <a:cs typeface="Calibri" pitchFamily="34" charset="-120"/>
              </a:rPr>
              <a:t>LLM-generated account narratives on top of the component data - the 'why', not just the score</a:t>
            </a:r>
            <a:endParaRPr lang="en-US" sz="1150" dirty="0"/>
          </a:p>
          <a:p>
            <a:pPr marL="342900" indent="-342900">
              <a:spcAft>
                <a:spcPts val="700"/>
              </a:spcAft>
              <a:buSzPct val="100000"/>
              <a:buChar char="•"/>
            </a:pPr>
            <a:r>
              <a:rPr lang="en-US" sz="1150" dirty="0">
                <a:solidFill>
                  <a:srgbClr val="CADCFC"/>
                </a:solidFill>
                <a:latin typeface="Calibri" pitchFamily="34" charset="0"/>
                <a:ea typeface="Calibri" pitchFamily="34" charset="-122"/>
                <a:cs typeface="Calibri" pitchFamily="34" charset="-120"/>
              </a:rPr>
              <a:t>Keep the spec-driven loop: metric changes ship as spec diffs, with code and tests regenerated from them</a:t>
            </a:r>
            <a:endParaRPr lang="en-US" sz="1150" dirty="0"/>
          </a:p>
        </p:txBody>
      </p:sp>
      <p:sp>
        <p:nvSpPr>
          <p:cNvPr id="9" name="Shape 7"/>
          <p:cNvSpPr/>
          <p:nvPr/>
        </p:nvSpPr>
        <p:spPr>
          <a:xfrm>
            <a:off x="777240" y="4224528"/>
            <a:ext cx="7589520" cy="0"/>
          </a:xfrm>
          <a:prstGeom prst="line">
            <a:avLst/>
          </a:prstGeom>
          <a:noFill/>
          <a:ln w="12700">
            <a:solidFill>
              <a:srgbClr val="51607A"/>
            </a:solidFill>
            <a:prstDash val="solid"/>
          </a:ln>
        </p:spPr>
      </p:sp>
      <p:sp>
        <p:nvSpPr>
          <p:cNvPr id="10" name="Text 8"/>
          <p:cNvSpPr/>
          <p:nvPr/>
        </p:nvSpPr>
        <p:spPr>
          <a:xfrm>
            <a:off x="731520" y="4370832"/>
            <a:ext cx="7680960" cy="457200"/>
          </a:xfrm>
          <a:prstGeom prst="rect">
            <a:avLst/>
          </a:prstGeom>
          <a:noFill/>
          <a:ln/>
        </p:spPr>
        <p:txBody>
          <a:bodyPr wrap="square" lIns="0" tIns="0" rIns="0" bIns="0" rtlCol="0" anchor="ctr"/>
          <a:lstStyle/>
          <a:p>
            <a:pPr indent="0" marL="0">
              <a:buNone/>
            </a:pPr>
            <a:r>
              <a:rPr lang="en-US" sz="1250" b="1" dirty="0">
                <a:solidFill>
                  <a:srgbClr val="02C39A"/>
                </a:solidFill>
                <a:latin typeface="Calibri" pitchFamily="34" charset="0"/>
                <a:ea typeface="Calibri" pitchFamily="34" charset="-122"/>
                <a:cs typeface="Calibri" pitchFamily="34" charset="-120"/>
              </a:rPr>
              <a:t>The ask:  </a:t>
            </a:r>
            <a:pPr indent="0" marL="0">
              <a:buNone/>
            </a:pPr>
            <a:r>
              <a:rPr lang="en-US" sz="1250" dirty="0">
                <a:solidFill>
                  <a:srgbClr val="CADCFC"/>
                </a:solidFill>
                <a:latin typeface="Calibri" pitchFamily="34" charset="0"/>
                <a:ea typeface="Calibri" pitchFamily="34" charset="-122"/>
                <a:cs typeface="Calibri" pitchFamily="34" charset="-120"/>
              </a:rPr>
              <a:t>endorse CVRS + health tiers, fund productionization, charter the metric governance forum.   </a:t>
            </a:r>
            <a:pPr indent="0" marL="0">
              <a:buNone/>
            </a:pPr>
            <a:r>
              <a:rPr lang="en-US" sz="1250" i="1" dirty="0">
                <a:solidFill>
                  <a:srgbClr val="8FA3C8"/>
                </a:solidFill>
                <a:latin typeface="Calibri" pitchFamily="34" charset="0"/>
                <a:ea typeface="Calibri" pitchFamily="34" charset="-122"/>
                <a:cs typeface="Calibri" pitchFamily="34" charset="-120"/>
              </a:rPr>
              <a:t>Live demo next.</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Value Realization Score</dc:title>
  <dc:subject>PptxGenJS Presentation</dc:subject>
  <dc:creator>PptxGenJS</dc:creator>
  <cp:lastModifiedBy>PptxGenJS</cp:lastModifiedBy>
  <cp:revision>1</cp:revision>
  <dcterms:created xsi:type="dcterms:W3CDTF">2026-07-22T07:33:49Z</dcterms:created>
  <dcterms:modified xsi:type="dcterms:W3CDTF">2026-07-22T07:33:49Z</dcterms:modified>
</cp:coreProperties>
</file>